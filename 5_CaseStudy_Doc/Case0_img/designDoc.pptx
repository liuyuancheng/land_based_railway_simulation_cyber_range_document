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8A31-0C0F-84AB-4FAF-ECA80D9DC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8D54E-83ED-8CF5-F2CA-D2B8E69BE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F6605-F78F-8F79-72F9-E038EDE59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27F4-F3F1-4FF7-9C3C-2BECB05327F1}" type="datetimeFigureOut">
              <a:rPr lang="en-SG" smtClean="0"/>
              <a:t>8/5/2026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1D691-E9FC-4B03-CA9A-ACD4DC1A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3E23-5FDC-3ED7-7694-2239603C5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EA8-FFB6-4B68-9EB2-D7E647FAFD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31190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A0FB-9378-396F-197A-E96BA7FC1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01692-BFC0-7F3D-1BF6-2A556AEB3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3C955-0DA7-4668-72A2-B33BA5AF0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27F4-F3F1-4FF7-9C3C-2BECB05327F1}" type="datetimeFigureOut">
              <a:rPr lang="en-SG" smtClean="0"/>
              <a:t>8/5/2026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92EEA-EC81-926E-FC0E-5BD13AFD7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D2C5B-5776-6312-4F4B-B94D872C5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EA8-FFB6-4B68-9EB2-D7E647FAFD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1372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12893-E087-32A8-A938-A576F36CE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C7EB5-F5FA-2B6B-CA69-AAE5F9D1E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994D6-D2F1-3CA0-B845-6F0BA1943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27F4-F3F1-4FF7-9C3C-2BECB05327F1}" type="datetimeFigureOut">
              <a:rPr lang="en-SG" smtClean="0"/>
              <a:t>8/5/2026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DB3C3-185B-01EC-638A-ABFEF38AE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6AD13-67EA-8169-29A4-322D4E015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EA8-FFB6-4B68-9EB2-D7E647FAFD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22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9F351-D57D-6971-ACDC-63663FE95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DE8A2-DB4C-D724-F572-C6DAEDFD56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4870C-F6A0-48BF-CA47-E4EC9CB7C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31BB1-717E-E33C-519D-0E45D429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27F4-F3F1-4FF7-9C3C-2BECB05327F1}" type="datetimeFigureOut">
              <a:rPr lang="en-SG" smtClean="0"/>
              <a:t>8/5/2026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DADED-5FC5-A637-241B-DFE763C95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6A5F4-B137-D9AC-EF42-29AB3F6F4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EA8-FFB6-4B68-9EB2-D7E647FAFD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52262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EC872-F7A3-BE94-404C-3C4C6196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7B114-5663-DB12-A2A4-24CE88AC4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EC1EB-8281-B9C7-59DD-95ED101DC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F50DFC-F292-58F5-6845-FDEB49162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91927C-F4F5-4480-D398-BA10B96EC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CCD365-2D6C-0C54-96AC-3D649ABAC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27F4-F3F1-4FF7-9C3C-2BECB05327F1}" type="datetimeFigureOut">
              <a:rPr lang="en-SG" smtClean="0"/>
              <a:t>8/5/2026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832129-F1AC-4120-FAA3-4EC283BE4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D50051-4FA2-CC89-2D18-9B012469D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EA8-FFB6-4B68-9EB2-D7E647FAFD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033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62C77-2743-DC39-1D76-09F5686D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8A2C36-8579-6A76-A45E-BB8044B04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27F4-F3F1-4FF7-9C3C-2BECB05327F1}" type="datetimeFigureOut">
              <a:rPr lang="en-SG" smtClean="0"/>
              <a:t>8/5/2026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D13113-A24A-02AC-0261-3ADA34446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8BB71-988E-A3E3-A94A-9C35C3888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EA8-FFB6-4B68-9EB2-D7E647FAFD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0225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2018E4-3F84-F88B-DC6D-88D3163B0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27F4-F3F1-4FF7-9C3C-2BECB05327F1}" type="datetimeFigureOut">
              <a:rPr lang="en-SG" smtClean="0"/>
              <a:t>8/5/2026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7CE96E-93AA-0733-D461-CC4C1F7DE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70FEE-6F04-2257-000F-82ADDF54B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EA8-FFB6-4B68-9EB2-D7E647FAFD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11006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3A029-3F8F-CFFE-87B6-8D490E7A2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18E5A-BD8F-A855-FE5A-CA016B0B4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A417BC-D8B1-BED5-D91B-81ED590A2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646EB-BF84-4F98-24F2-7C7517A44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27F4-F3F1-4FF7-9C3C-2BECB05327F1}" type="datetimeFigureOut">
              <a:rPr lang="en-SG" smtClean="0"/>
              <a:t>8/5/2026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8C065-10AA-6B2A-BFC4-00FAC93BA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79739-E63B-FA24-978D-960D83EC8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EA8-FFB6-4B68-9EB2-D7E647FAFD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23678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3BC0F-8020-EC27-9811-0F407446A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11EB41-8211-5427-435B-FFC9A1799F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A98618-AE77-1610-A3EF-C07822164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5B0D4-BE20-5B2F-D4B0-BC8CAA684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27F4-F3F1-4FF7-9C3C-2BECB05327F1}" type="datetimeFigureOut">
              <a:rPr lang="en-SG" smtClean="0"/>
              <a:t>8/5/2026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25C66-28D8-5D77-4E88-79393E9F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E65DF-DA17-4EEF-EEF6-B7A131A43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EA8-FFB6-4B68-9EB2-D7E647FAFD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4619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16C8B-06B8-2B50-938C-BF9B6359E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92790-4159-3116-9D98-D66BE0C64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14F82-F5B5-BA4E-597B-11A997F58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27F4-F3F1-4FF7-9C3C-2BECB05327F1}" type="datetimeFigureOut">
              <a:rPr lang="en-SG" smtClean="0"/>
              <a:t>8/5/2026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6737D-F45E-EBD4-A280-CB88BDA7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9DEAE-6AD1-61E1-80B2-4D80E79FE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EA8-FFB6-4B68-9EB2-D7E647FAFD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13453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C93180-8872-33DD-26BD-6EBF9C19AA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79C06B-5913-A274-027D-50D78C4BC7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3AE76-B00B-E9AF-EAF4-EE0BE90D2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27F4-F3F1-4FF7-9C3C-2BECB05327F1}" type="datetimeFigureOut">
              <a:rPr lang="en-SG" smtClean="0"/>
              <a:t>8/5/2026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B2B29-4988-E274-04FC-3D42C96EA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647E1-2EC0-C217-DB24-41BFE483A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EEA8-FFB6-4B68-9EB2-D7E647FAFD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70756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9E1820-86F1-56D1-ED98-E53B5DFFC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40116-F94B-73FF-D2FE-E53FFCF89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ED104-4CAC-CC97-858B-E4BFA1423C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BE27F4-F3F1-4FF7-9C3C-2BECB05327F1}" type="datetimeFigureOut">
              <a:rPr lang="en-SG" smtClean="0"/>
              <a:t>8/5/2026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F3169-3DE3-39AD-2DEB-E9C8717EE1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73D6D-459B-EB95-7286-DFEE409C1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99EEA8-FFB6-4B68-9EB2-D7E647FAFD1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49529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72A85F-23C1-5D4B-945B-C74A7D2D6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673" y="1193532"/>
            <a:ext cx="4405327" cy="464660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8E9F2C-53C7-3804-9C5A-089DFF819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546" y="1193532"/>
            <a:ext cx="4432970" cy="464660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45676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Train Side View: Over 3,932 Royalty-Free Licensable Stock Illustrations &amp;  Drawings | Shutterstock">
            <a:extLst>
              <a:ext uri="{FF2B5EF4-FFF2-40B4-BE49-F238E27FC236}">
                <a16:creationId xmlns:a16="http://schemas.microsoft.com/office/drawing/2014/main" id="{80820D67-DD1F-ADCF-FCFE-F01D392396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69" b="33339"/>
          <a:stretch/>
        </p:blipFill>
        <p:spPr bwMode="auto">
          <a:xfrm flipH="1">
            <a:off x="866522" y="4087368"/>
            <a:ext cx="3787778" cy="1114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C0076CB-F0B3-D918-DAE4-D6DDC3C6E439}"/>
              </a:ext>
            </a:extLst>
          </p:cNvPr>
          <p:cNvCxnSpPr>
            <a:cxnSpLocks/>
          </p:cNvCxnSpPr>
          <p:nvPr/>
        </p:nvCxnSpPr>
        <p:spPr>
          <a:xfrm>
            <a:off x="663105" y="5053236"/>
            <a:ext cx="1102918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Radio tower - Free communications icons">
            <a:extLst>
              <a:ext uri="{FF2B5EF4-FFF2-40B4-BE49-F238E27FC236}">
                <a16:creationId xmlns:a16="http://schemas.microsoft.com/office/drawing/2014/main" id="{DBBA64DA-B62F-1FE8-729A-5586EBD4A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4" y="5258541"/>
            <a:ext cx="650959" cy="650959"/>
          </a:xfrm>
          <a:prstGeom prst="rect">
            <a:avLst/>
          </a:prstGeom>
        </p:spPr>
      </p:pic>
      <p:pic>
        <p:nvPicPr>
          <p:cNvPr id="9" name="Picture 8" descr="Radio tower - Free communications icons">
            <a:extLst>
              <a:ext uri="{FF2B5EF4-FFF2-40B4-BE49-F238E27FC236}">
                <a16:creationId xmlns:a16="http://schemas.microsoft.com/office/drawing/2014/main" id="{708FA7AE-0243-AA2E-9DD9-70919EE38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107" y="5223585"/>
            <a:ext cx="720873" cy="72087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92F178-50D0-AA7F-4EA6-B125EE122710}"/>
              </a:ext>
            </a:extLst>
          </p:cNvPr>
          <p:cNvCxnSpPr>
            <a:cxnSpLocks/>
          </p:cNvCxnSpPr>
          <p:nvPr/>
        </p:nvCxnSpPr>
        <p:spPr>
          <a:xfrm>
            <a:off x="663105" y="4172364"/>
            <a:ext cx="1750911" cy="0"/>
          </a:xfrm>
          <a:prstGeom prst="line">
            <a:avLst/>
          </a:prstGeom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C8CE927-BF95-668E-6BC1-35ED52E702D0}"/>
              </a:ext>
            </a:extLst>
          </p:cNvPr>
          <p:cNvCxnSpPr>
            <a:cxnSpLocks/>
          </p:cNvCxnSpPr>
          <p:nvPr/>
        </p:nvCxnSpPr>
        <p:spPr>
          <a:xfrm>
            <a:off x="2552865" y="4172364"/>
            <a:ext cx="1750911" cy="0"/>
          </a:xfrm>
          <a:prstGeom prst="line">
            <a:avLst/>
          </a:prstGeom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F23AFA3-C53E-ED26-176C-9840BFD2E976}"/>
              </a:ext>
            </a:extLst>
          </p:cNvPr>
          <p:cNvCxnSpPr>
            <a:cxnSpLocks/>
          </p:cNvCxnSpPr>
          <p:nvPr/>
        </p:nvCxnSpPr>
        <p:spPr>
          <a:xfrm>
            <a:off x="4473105" y="4172364"/>
            <a:ext cx="1750911" cy="0"/>
          </a:xfrm>
          <a:prstGeom prst="line">
            <a:avLst/>
          </a:prstGeom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F36244-1777-75F0-38CF-0DBE41C20C06}"/>
              </a:ext>
            </a:extLst>
          </p:cNvPr>
          <p:cNvCxnSpPr>
            <a:cxnSpLocks/>
          </p:cNvCxnSpPr>
          <p:nvPr/>
        </p:nvCxnSpPr>
        <p:spPr>
          <a:xfrm>
            <a:off x="6329337" y="4172364"/>
            <a:ext cx="1750911" cy="0"/>
          </a:xfrm>
          <a:prstGeom prst="line">
            <a:avLst/>
          </a:prstGeom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93B5FA-A168-BC0F-B1A1-4D6D01F58319}"/>
              </a:ext>
            </a:extLst>
          </p:cNvPr>
          <p:cNvCxnSpPr>
            <a:cxnSpLocks/>
          </p:cNvCxnSpPr>
          <p:nvPr/>
        </p:nvCxnSpPr>
        <p:spPr>
          <a:xfrm>
            <a:off x="8158137" y="4181508"/>
            <a:ext cx="1750911" cy="0"/>
          </a:xfrm>
          <a:prstGeom prst="line">
            <a:avLst/>
          </a:prstGeom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Transformer - Free electronics icons">
            <a:extLst>
              <a:ext uri="{FF2B5EF4-FFF2-40B4-BE49-F238E27FC236}">
                <a16:creationId xmlns:a16="http://schemas.microsoft.com/office/drawing/2014/main" id="{27CA5BC6-BD66-1C68-15A4-1D81380B9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645" y="2279755"/>
            <a:ext cx="797687" cy="797687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E801A6F-CB02-8484-5726-4EB009630592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1752488" y="3077442"/>
            <a:ext cx="1" cy="31815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BA40457E-7B1D-A88F-EBE5-E4F330F1AD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6314" y="3387610"/>
            <a:ext cx="292347" cy="43364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2B1BC40-3F3E-848C-2E05-2478EE41E0C2}"/>
              </a:ext>
            </a:extLst>
          </p:cNvPr>
          <p:cNvSpPr txBox="1"/>
          <p:nvPr/>
        </p:nvSpPr>
        <p:spPr>
          <a:xfrm>
            <a:off x="1172801" y="1648316"/>
            <a:ext cx="149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750V DC Transformer </a:t>
            </a:r>
            <a:endParaRPr lang="en-SG" sz="1400" b="1" dirty="0">
              <a:solidFill>
                <a:srgbClr val="C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FB6382A-B0B9-6A85-045B-6A66BCEB02A7}"/>
              </a:ext>
            </a:extLst>
          </p:cNvPr>
          <p:cNvCxnSpPr>
            <a:cxnSpLocks/>
          </p:cNvCxnSpPr>
          <p:nvPr/>
        </p:nvCxnSpPr>
        <p:spPr>
          <a:xfrm flipH="1">
            <a:off x="1752487" y="3824435"/>
            <a:ext cx="1" cy="31815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A78165CB-B6A6-1979-71A8-D8E370BC33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5973" y="3395601"/>
            <a:ext cx="292347" cy="43364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BFBCF4F-8A1D-9F89-1F17-087136FD65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4936" y="3395601"/>
            <a:ext cx="292347" cy="43364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A5FF2FA-089A-B35A-5650-70384AEDF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8618" y="3370050"/>
            <a:ext cx="292347" cy="43364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41471CF-A6C4-3653-1615-6D73E10284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6413" y="3360246"/>
            <a:ext cx="292347" cy="433648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C2E5FAA-10D9-B4F5-E1EC-B66AFD0CDEF9}"/>
              </a:ext>
            </a:extLst>
          </p:cNvPr>
          <p:cNvCxnSpPr>
            <a:cxnSpLocks/>
          </p:cNvCxnSpPr>
          <p:nvPr/>
        </p:nvCxnSpPr>
        <p:spPr>
          <a:xfrm>
            <a:off x="1752487" y="3191691"/>
            <a:ext cx="7159812" cy="445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FFD3457-2862-64D7-C1B5-5EB44C7A7A09}"/>
              </a:ext>
            </a:extLst>
          </p:cNvPr>
          <p:cNvSpPr txBox="1"/>
          <p:nvPr/>
        </p:nvSpPr>
        <p:spPr>
          <a:xfrm>
            <a:off x="814955" y="3135606"/>
            <a:ext cx="8855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Motorized control breaker </a:t>
            </a:r>
            <a:endParaRPr lang="en-SG" sz="1200" b="1" dirty="0">
              <a:solidFill>
                <a:srgbClr val="C00000"/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B3BDAAF-A520-E22D-DEBC-624B3F926058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3282146" y="3191691"/>
            <a:ext cx="1" cy="20391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0D9419F-21D5-5045-EF05-B385EEC22484}"/>
              </a:ext>
            </a:extLst>
          </p:cNvPr>
          <p:cNvCxnSpPr>
            <a:cxnSpLocks/>
          </p:cNvCxnSpPr>
          <p:nvPr/>
        </p:nvCxnSpPr>
        <p:spPr>
          <a:xfrm>
            <a:off x="3282146" y="3803698"/>
            <a:ext cx="0" cy="33889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61891D7-9523-0513-40DE-FBC3876C1EC9}"/>
              </a:ext>
            </a:extLst>
          </p:cNvPr>
          <p:cNvCxnSpPr>
            <a:cxnSpLocks/>
          </p:cNvCxnSpPr>
          <p:nvPr/>
        </p:nvCxnSpPr>
        <p:spPr>
          <a:xfrm flipH="1">
            <a:off x="5340376" y="3821258"/>
            <a:ext cx="8185" cy="35110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54260F0-C412-5EF3-3236-1A005E41A01E}"/>
              </a:ext>
            </a:extLst>
          </p:cNvPr>
          <p:cNvCxnSpPr>
            <a:cxnSpLocks/>
          </p:cNvCxnSpPr>
          <p:nvPr/>
        </p:nvCxnSpPr>
        <p:spPr>
          <a:xfrm>
            <a:off x="7192356" y="3793894"/>
            <a:ext cx="0" cy="36812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9DBBDD3-1681-E2E6-5296-97D590774A05}"/>
              </a:ext>
            </a:extLst>
          </p:cNvPr>
          <p:cNvCxnSpPr>
            <a:cxnSpLocks/>
          </p:cNvCxnSpPr>
          <p:nvPr/>
        </p:nvCxnSpPr>
        <p:spPr>
          <a:xfrm flipH="1">
            <a:off x="8941470" y="3829249"/>
            <a:ext cx="8185" cy="35110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A7B00CB-C4DA-B1C3-95F2-7AF3710EB670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5348560" y="3189538"/>
            <a:ext cx="2550" cy="20606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84AE7D4-4F04-30C0-F703-33C2C1B0FBCD}"/>
              </a:ext>
            </a:extLst>
          </p:cNvPr>
          <p:cNvCxnSpPr>
            <a:cxnSpLocks/>
          </p:cNvCxnSpPr>
          <p:nvPr/>
        </p:nvCxnSpPr>
        <p:spPr>
          <a:xfrm>
            <a:off x="7204790" y="3206496"/>
            <a:ext cx="1" cy="20391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C2DEA7D-41CB-781A-7C3B-839E6CD819E0}"/>
              </a:ext>
            </a:extLst>
          </p:cNvPr>
          <p:cNvCxnSpPr>
            <a:cxnSpLocks/>
          </p:cNvCxnSpPr>
          <p:nvPr/>
        </p:nvCxnSpPr>
        <p:spPr>
          <a:xfrm>
            <a:off x="8932586" y="3189538"/>
            <a:ext cx="0" cy="22086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8FA6265-0622-57A9-9682-CB3BCECAA32B}"/>
              </a:ext>
            </a:extLst>
          </p:cNvPr>
          <p:cNvSpPr txBox="1"/>
          <p:nvPr/>
        </p:nvSpPr>
        <p:spPr>
          <a:xfrm>
            <a:off x="9909048" y="3893859"/>
            <a:ext cx="16215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Railway third track 750V DC [Power] </a:t>
            </a:r>
            <a:endParaRPr lang="en-SG" sz="1200" b="1" dirty="0">
              <a:solidFill>
                <a:srgbClr val="C0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55E3B0-1A42-648F-B538-10CF5DCD3BE5}"/>
              </a:ext>
            </a:extLst>
          </p:cNvPr>
          <p:cNvSpPr txBox="1"/>
          <p:nvPr/>
        </p:nvSpPr>
        <p:spPr>
          <a:xfrm>
            <a:off x="580371" y="3918745"/>
            <a:ext cx="4691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B01</a:t>
            </a:r>
            <a:endParaRPr lang="en-SG" sz="1100" b="1" dirty="0">
              <a:solidFill>
                <a:srgbClr val="C0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9A83D4B-4A65-B964-22DD-6E990A16B02D}"/>
              </a:ext>
            </a:extLst>
          </p:cNvPr>
          <p:cNvSpPr txBox="1"/>
          <p:nvPr/>
        </p:nvSpPr>
        <p:spPr>
          <a:xfrm>
            <a:off x="2467253" y="3918745"/>
            <a:ext cx="4691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B02</a:t>
            </a:r>
            <a:endParaRPr lang="en-SG" sz="1100" b="1" dirty="0">
              <a:solidFill>
                <a:srgbClr val="C0000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914E78-3B52-ADA0-FC96-585208000332}"/>
              </a:ext>
            </a:extLst>
          </p:cNvPr>
          <p:cNvSpPr txBox="1"/>
          <p:nvPr/>
        </p:nvSpPr>
        <p:spPr>
          <a:xfrm>
            <a:off x="4391512" y="3928636"/>
            <a:ext cx="4691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B03</a:t>
            </a:r>
            <a:endParaRPr lang="en-SG" sz="1100" b="1" dirty="0">
              <a:solidFill>
                <a:srgbClr val="C000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781B51-84BE-E753-E1D7-A1BCB964612E}"/>
              </a:ext>
            </a:extLst>
          </p:cNvPr>
          <p:cNvSpPr txBox="1"/>
          <p:nvPr/>
        </p:nvSpPr>
        <p:spPr>
          <a:xfrm>
            <a:off x="6225527" y="3900405"/>
            <a:ext cx="4691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B04</a:t>
            </a:r>
            <a:endParaRPr lang="en-SG" sz="1100" b="1" dirty="0">
              <a:solidFill>
                <a:srgbClr val="C0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C68BB2-6827-BA3D-55CA-8610B7C14437}"/>
              </a:ext>
            </a:extLst>
          </p:cNvPr>
          <p:cNvSpPr txBox="1"/>
          <p:nvPr/>
        </p:nvSpPr>
        <p:spPr>
          <a:xfrm>
            <a:off x="8080636" y="3918745"/>
            <a:ext cx="4691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B05</a:t>
            </a:r>
            <a:endParaRPr lang="en-SG" sz="1100" b="1" dirty="0">
              <a:solidFill>
                <a:srgbClr val="C00000"/>
              </a:solidFill>
            </a:endParaRPr>
          </a:p>
        </p:txBody>
      </p:sp>
      <p:pic>
        <p:nvPicPr>
          <p:cNvPr id="61" name="Picture 60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id="{E133E8D8-C874-B90A-8CA5-FBBB6D8EB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777" y="2035696"/>
            <a:ext cx="641390" cy="703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B0838A49-8446-132A-F45F-7533F46CDF5C}"/>
              </a:ext>
            </a:extLst>
          </p:cNvPr>
          <p:cNvSpPr txBox="1"/>
          <p:nvPr/>
        </p:nvSpPr>
        <p:spPr>
          <a:xfrm>
            <a:off x="4151462" y="1576752"/>
            <a:ext cx="1484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Third track block power control PLC</a:t>
            </a:r>
            <a:endParaRPr lang="en-SG" sz="1200" b="1" dirty="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E3E4967-54E5-416D-D4F1-2628D0B1F7BC}"/>
              </a:ext>
            </a:extLst>
          </p:cNvPr>
          <p:cNvCxnSpPr>
            <a:cxnSpLocks/>
          </p:cNvCxnSpPr>
          <p:nvPr/>
        </p:nvCxnSpPr>
        <p:spPr>
          <a:xfrm>
            <a:off x="2300830" y="3008376"/>
            <a:ext cx="61665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4F6901F7-96D8-0482-75A1-D408CF0F16F3}"/>
              </a:ext>
            </a:extLst>
          </p:cNvPr>
          <p:cNvCxnSpPr>
            <a:cxnSpLocks/>
            <a:endCxn id="32" idx="3"/>
          </p:cNvCxnSpPr>
          <p:nvPr/>
        </p:nvCxnSpPr>
        <p:spPr>
          <a:xfrm rot="5400000">
            <a:off x="3313450" y="3115257"/>
            <a:ext cx="612039" cy="38229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F521A548-58E7-C5C0-A6F9-6F2063192A38}"/>
              </a:ext>
            </a:extLst>
          </p:cNvPr>
          <p:cNvCxnSpPr>
            <a:cxnSpLocks/>
          </p:cNvCxnSpPr>
          <p:nvPr/>
        </p:nvCxnSpPr>
        <p:spPr>
          <a:xfrm rot="5400000">
            <a:off x="1801336" y="3078658"/>
            <a:ext cx="596058" cy="426443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F9511936-9A1F-1A92-170A-5D6B2980BAA5}"/>
              </a:ext>
            </a:extLst>
          </p:cNvPr>
          <p:cNvCxnSpPr>
            <a:cxnSpLocks/>
          </p:cNvCxnSpPr>
          <p:nvPr/>
        </p:nvCxnSpPr>
        <p:spPr>
          <a:xfrm rot="5400000">
            <a:off x="5345962" y="3123247"/>
            <a:ext cx="612039" cy="38229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EAFCED09-AA27-AE16-FECD-3B9F90718E4E}"/>
              </a:ext>
            </a:extLst>
          </p:cNvPr>
          <p:cNvCxnSpPr>
            <a:cxnSpLocks/>
            <a:endCxn id="34" idx="3"/>
          </p:cNvCxnSpPr>
          <p:nvPr/>
        </p:nvCxnSpPr>
        <p:spPr>
          <a:xfrm rot="5400000">
            <a:off x="7251920" y="3107423"/>
            <a:ext cx="578497" cy="38040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9E54BD4F-05D2-464E-1422-EF92CA04D26D}"/>
              </a:ext>
            </a:extLst>
          </p:cNvPr>
          <p:cNvCxnSpPr>
            <a:cxnSpLocks/>
            <a:endCxn id="35" idx="1"/>
          </p:cNvCxnSpPr>
          <p:nvPr/>
        </p:nvCxnSpPr>
        <p:spPr>
          <a:xfrm rot="16200000" flipH="1">
            <a:off x="8329747" y="3120404"/>
            <a:ext cx="576960" cy="33637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D18D944-6C4D-5B11-6097-AD11FD11E7E0}"/>
              </a:ext>
            </a:extLst>
          </p:cNvPr>
          <p:cNvCxnSpPr>
            <a:stCxn id="61" idx="2"/>
          </p:cNvCxnSpPr>
          <p:nvPr/>
        </p:nvCxnSpPr>
        <p:spPr>
          <a:xfrm>
            <a:off x="4967472" y="2738850"/>
            <a:ext cx="0" cy="2695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EEAD9B22-88C0-AEF1-DE60-7D319549D932}"/>
              </a:ext>
            </a:extLst>
          </p:cNvPr>
          <p:cNvSpPr txBox="1"/>
          <p:nvPr/>
        </p:nvSpPr>
        <p:spPr>
          <a:xfrm>
            <a:off x="2738158" y="2719970"/>
            <a:ext cx="2108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48V one to one control link</a:t>
            </a:r>
            <a:endParaRPr lang="en-SG" sz="12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0719B34-6E87-332A-3013-D4DC654E92CE}"/>
              </a:ext>
            </a:extLst>
          </p:cNvPr>
          <p:cNvSpPr txBox="1"/>
          <p:nvPr/>
        </p:nvSpPr>
        <p:spPr>
          <a:xfrm>
            <a:off x="1862211" y="3604434"/>
            <a:ext cx="634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</a:rPr>
              <a:t>CR01</a:t>
            </a:r>
            <a:endParaRPr lang="en-SG" sz="1100" b="1" dirty="0">
              <a:solidFill>
                <a:schemeClr val="accent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C20DD13-8565-A535-E1D5-57D48A8BBB35}"/>
              </a:ext>
            </a:extLst>
          </p:cNvPr>
          <p:cNvSpPr txBox="1"/>
          <p:nvPr/>
        </p:nvSpPr>
        <p:spPr>
          <a:xfrm>
            <a:off x="3394639" y="3620341"/>
            <a:ext cx="634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</a:rPr>
              <a:t>CR02</a:t>
            </a:r>
            <a:endParaRPr lang="en-SG" sz="1100" b="1" dirty="0">
              <a:solidFill>
                <a:schemeClr val="accent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EECC0DB-3772-32DB-C471-890792ACEBE8}"/>
              </a:ext>
            </a:extLst>
          </p:cNvPr>
          <p:cNvSpPr txBox="1"/>
          <p:nvPr/>
        </p:nvSpPr>
        <p:spPr>
          <a:xfrm>
            <a:off x="5452868" y="3600441"/>
            <a:ext cx="634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</a:rPr>
              <a:t>CR03</a:t>
            </a:r>
            <a:endParaRPr lang="en-SG" sz="1100" b="1" dirty="0">
              <a:solidFill>
                <a:schemeClr val="accent1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CEB9F9D-A775-8EA2-9DD7-CE2AD02A95AF}"/>
              </a:ext>
            </a:extLst>
          </p:cNvPr>
          <p:cNvSpPr txBox="1"/>
          <p:nvPr/>
        </p:nvSpPr>
        <p:spPr>
          <a:xfrm>
            <a:off x="7336613" y="3599332"/>
            <a:ext cx="634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</a:rPr>
              <a:t>CR04</a:t>
            </a:r>
            <a:endParaRPr lang="en-SG" sz="1100" b="1" dirty="0">
              <a:solidFill>
                <a:schemeClr val="accent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1130E5D-7E81-947D-EB8C-8B5680EF735B}"/>
              </a:ext>
            </a:extLst>
          </p:cNvPr>
          <p:cNvSpPr txBox="1"/>
          <p:nvPr/>
        </p:nvSpPr>
        <p:spPr>
          <a:xfrm>
            <a:off x="9055527" y="3567639"/>
            <a:ext cx="634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</a:rPr>
              <a:t>CR05</a:t>
            </a:r>
            <a:endParaRPr lang="en-SG" sz="1100" b="1" dirty="0">
              <a:solidFill>
                <a:schemeClr val="accent1"/>
              </a:solidFill>
            </a:endParaRP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4A88B5B-9465-B459-1AA4-A78FB38AC20A}"/>
              </a:ext>
            </a:extLst>
          </p:cNvPr>
          <p:cNvCxnSpPr>
            <a:cxnSpLocks/>
            <a:stCxn id="61" idx="3"/>
          </p:cNvCxnSpPr>
          <p:nvPr/>
        </p:nvCxnSpPr>
        <p:spPr>
          <a:xfrm>
            <a:off x="5288167" y="2387273"/>
            <a:ext cx="1476763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ABDFA732-E1B5-1B82-2332-0F9F74FE8BD9}"/>
              </a:ext>
            </a:extLst>
          </p:cNvPr>
          <p:cNvSpPr txBox="1"/>
          <p:nvPr/>
        </p:nvSpPr>
        <p:spPr>
          <a:xfrm>
            <a:off x="1357222" y="5408193"/>
            <a:ext cx="1484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Radio Antenna Next to the Track </a:t>
            </a:r>
            <a:endParaRPr lang="en-SG" sz="1200" b="1" dirty="0"/>
          </a:p>
        </p:txBody>
      </p:sp>
      <p:pic>
        <p:nvPicPr>
          <p:cNvPr id="92" name="Picture 91" descr="Radio tower - Free communications icons">
            <a:extLst>
              <a:ext uri="{FF2B5EF4-FFF2-40B4-BE49-F238E27FC236}">
                <a16:creationId xmlns:a16="http://schemas.microsoft.com/office/drawing/2014/main" id="{0B372284-DF50-56BB-F64C-9DB2098A1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601" y="5238821"/>
            <a:ext cx="656160" cy="656160"/>
          </a:xfrm>
          <a:prstGeom prst="rect">
            <a:avLst/>
          </a:prstGeom>
        </p:spPr>
      </p:pic>
      <p:pic>
        <p:nvPicPr>
          <p:cNvPr id="94" name="Graphic 93" descr="Wi-Fi with solid fill">
            <a:extLst>
              <a:ext uri="{FF2B5EF4-FFF2-40B4-BE49-F238E27FC236}">
                <a16:creationId xmlns:a16="http://schemas.microsoft.com/office/drawing/2014/main" id="{A52C51AE-AB42-388A-E0F0-69919AF73C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42689" y="4223369"/>
            <a:ext cx="481011" cy="481011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95910EFF-ED7F-CCC6-0821-FA1FB6375FDA}"/>
              </a:ext>
            </a:extLst>
          </p:cNvPr>
          <p:cNvSpPr txBox="1"/>
          <p:nvPr/>
        </p:nvSpPr>
        <p:spPr>
          <a:xfrm>
            <a:off x="3988383" y="3494500"/>
            <a:ext cx="10428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Train Radio Antenna </a:t>
            </a:r>
            <a:endParaRPr lang="en-SG" sz="1200" b="1" dirty="0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C5F4C25-88E5-3505-9DD4-50E67F4CC5C4}"/>
              </a:ext>
            </a:extLst>
          </p:cNvPr>
          <p:cNvCxnSpPr>
            <a:cxnSpLocks/>
          </p:cNvCxnSpPr>
          <p:nvPr/>
        </p:nvCxnSpPr>
        <p:spPr>
          <a:xfrm>
            <a:off x="4409463" y="4591845"/>
            <a:ext cx="558009" cy="72859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5689B53D-C5BA-8384-CD4E-F2184CDC6096}"/>
              </a:ext>
            </a:extLst>
          </p:cNvPr>
          <p:cNvCxnSpPr>
            <a:stCxn id="92" idx="2"/>
          </p:cNvCxnSpPr>
          <p:nvPr/>
        </p:nvCxnSpPr>
        <p:spPr>
          <a:xfrm>
            <a:off x="1215681" y="5894981"/>
            <a:ext cx="0" cy="1583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691C67F9-6639-D036-3048-E239015406A5}"/>
              </a:ext>
            </a:extLst>
          </p:cNvPr>
          <p:cNvSpPr txBox="1"/>
          <p:nvPr/>
        </p:nvSpPr>
        <p:spPr>
          <a:xfrm>
            <a:off x="4595623" y="4420804"/>
            <a:ext cx="1803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Train Broadcast  Operation Information 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9D93B72-2ECD-2420-38E2-74F22A65A4E4}"/>
              </a:ext>
            </a:extLst>
          </p:cNvPr>
          <p:cNvCxnSpPr>
            <a:cxnSpLocks/>
          </p:cNvCxnSpPr>
          <p:nvPr/>
        </p:nvCxnSpPr>
        <p:spPr>
          <a:xfrm>
            <a:off x="4387818" y="3938006"/>
            <a:ext cx="2495" cy="349402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0772F9F2-766E-0297-5011-CC3AA22180EC}"/>
              </a:ext>
            </a:extLst>
          </p:cNvPr>
          <p:cNvCxnSpPr>
            <a:cxnSpLocks/>
          </p:cNvCxnSpPr>
          <p:nvPr/>
        </p:nvCxnSpPr>
        <p:spPr>
          <a:xfrm flipH="1">
            <a:off x="1421343" y="4463874"/>
            <a:ext cx="2733637" cy="86871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C2B8FDCD-993E-ACD7-4635-90BF67914C0F}"/>
              </a:ext>
            </a:extLst>
          </p:cNvPr>
          <p:cNvSpPr txBox="1"/>
          <p:nvPr/>
        </p:nvSpPr>
        <p:spPr>
          <a:xfrm>
            <a:off x="675970" y="5647890"/>
            <a:ext cx="4691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T01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427ECE8-8904-9967-4774-7260A4A40A93}"/>
              </a:ext>
            </a:extLst>
          </p:cNvPr>
          <p:cNvSpPr txBox="1"/>
          <p:nvPr/>
        </p:nvSpPr>
        <p:spPr>
          <a:xfrm>
            <a:off x="4595623" y="5635090"/>
            <a:ext cx="4691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T02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DAB2D25-9105-730D-10D2-E61A62C56248}"/>
              </a:ext>
            </a:extLst>
          </p:cNvPr>
          <p:cNvSpPr txBox="1"/>
          <p:nvPr/>
        </p:nvSpPr>
        <p:spPr>
          <a:xfrm>
            <a:off x="8330678" y="5663354"/>
            <a:ext cx="4691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T03</a:t>
            </a:r>
            <a:endParaRPr lang="en-SG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3F9DF69-742C-8FA8-A2B0-F691330380A6}"/>
              </a:ext>
            </a:extLst>
          </p:cNvPr>
          <p:cNvCxnSpPr>
            <a:cxnSpLocks/>
          </p:cNvCxnSpPr>
          <p:nvPr/>
        </p:nvCxnSpPr>
        <p:spPr>
          <a:xfrm>
            <a:off x="1206537" y="6056885"/>
            <a:ext cx="8166464" cy="502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C1CFFAC-0BE6-E4D6-47C9-94BBC23FDD1E}"/>
              </a:ext>
            </a:extLst>
          </p:cNvPr>
          <p:cNvCxnSpPr>
            <a:cxnSpLocks/>
          </p:cNvCxnSpPr>
          <p:nvPr/>
        </p:nvCxnSpPr>
        <p:spPr>
          <a:xfrm>
            <a:off x="5171803" y="5909500"/>
            <a:ext cx="0" cy="178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9449C96-6147-DDE7-21D8-CF2155EF5E6D}"/>
              </a:ext>
            </a:extLst>
          </p:cNvPr>
          <p:cNvCxnSpPr>
            <a:cxnSpLocks/>
          </p:cNvCxnSpPr>
          <p:nvPr/>
        </p:nvCxnSpPr>
        <p:spPr>
          <a:xfrm>
            <a:off x="8881938" y="5924964"/>
            <a:ext cx="0" cy="178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6F8FCD0D-711B-E88D-4C0C-7EBB52E432C7}"/>
              </a:ext>
            </a:extLst>
          </p:cNvPr>
          <p:cNvSpPr txBox="1"/>
          <p:nvPr/>
        </p:nvSpPr>
        <p:spPr>
          <a:xfrm>
            <a:off x="5452868" y="5747617"/>
            <a:ext cx="2958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Train Operation Information Data Bus </a:t>
            </a:r>
            <a:endParaRPr lang="en-SG" sz="1200" b="1" dirty="0"/>
          </a:p>
        </p:txBody>
      </p:sp>
      <p:pic>
        <p:nvPicPr>
          <p:cNvPr id="123" name="Picture 122">
            <a:extLst>
              <a:ext uri="{FF2B5EF4-FFF2-40B4-BE49-F238E27FC236}">
                <a16:creationId xmlns:a16="http://schemas.microsoft.com/office/drawing/2014/main" id="{81536D14-EE1F-8C8F-7DA5-4F86A10551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3000" y="5694044"/>
            <a:ext cx="720873" cy="512621"/>
          </a:xfrm>
          <a:prstGeom prst="rect">
            <a:avLst/>
          </a:prstGeom>
        </p:spPr>
      </p:pic>
      <p:sp>
        <p:nvSpPr>
          <p:cNvPr id="124" name="TextBox 123">
            <a:extLst>
              <a:ext uri="{FF2B5EF4-FFF2-40B4-BE49-F238E27FC236}">
                <a16:creationId xmlns:a16="http://schemas.microsoft.com/office/drawing/2014/main" id="{452302C9-8EC4-9598-961F-3CB1485C980F}"/>
              </a:ext>
            </a:extLst>
          </p:cNvPr>
          <p:cNvSpPr txBox="1"/>
          <p:nvPr/>
        </p:nvSpPr>
        <p:spPr>
          <a:xfrm>
            <a:off x="10141770" y="5713625"/>
            <a:ext cx="1484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Radio Link Data Management RTU</a:t>
            </a:r>
            <a:endParaRPr lang="en-SG" sz="1200" b="1" dirty="0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45562723-03B4-3277-BBE2-6F8DC7626F79}"/>
              </a:ext>
            </a:extLst>
          </p:cNvPr>
          <p:cNvCxnSpPr>
            <a:cxnSpLocks/>
            <a:endCxn id="123" idx="0"/>
          </p:cNvCxnSpPr>
          <p:nvPr/>
        </p:nvCxnSpPr>
        <p:spPr>
          <a:xfrm>
            <a:off x="9733437" y="2678598"/>
            <a:ext cx="0" cy="3015446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9" name="Picture 128">
            <a:extLst>
              <a:ext uri="{FF2B5EF4-FFF2-40B4-BE49-F238E27FC236}">
                <a16:creationId xmlns:a16="http://schemas.microsoft.com/office/drawing/2014/main" id="{5C34A02D-35ED-0B00-5046-4CCFF23C33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4985" y="990693"/>
            <a:ext cx="2983277" cy="160351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34" name="TextBox 133">
            <a:extLst>
              <a:ext uri="{FF2B5EF4-FFF2-40B4-BE49-F238E27FC236}">
                <a16:creationId xmlns:a16="http://schemas.microsoft.com/office/drawing/2014/main" id="{047910D8-B3FA-2DB5-DE81-4C29EEB9C32B}"/>
              </a:ext>
            </a:extLst>
          </p:cNvPr>
          <p:cNvSpPr txBox="1"/>
          <p:nvPr/>
        </p:nvSpPr>
        <p:spPr>
          <a:xfrm>
            <a:off x="5321391" y="2029346"/>
            <a:ext cx="14842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Modbus-TCP Bus </a:t>
            </a:r>
            <a:endParaRPr lang="en-SG" sz="12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018FE10-AA12-9EA8-39B4-C695AF1C7303}"/>
              </a:ext>
            </a:extLst>
          </p:cNvPr>
          <p:cNvSpPr txBox="1"/>
          <p:nvPr/>
        </p:nvSpPr>
        <p:spPr>
          <a:xfrm>
            <a:off x="9909048" y="2993850"/>
            <a:ext cx="13048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Siemens</a:t>
            </a:r>
          </a:p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S7Comm Bus 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37" name="Picture 136">
            <a:extLst>
              <a:ext uri="{FF2B5EF4-FFF2-40B4-BE49-F238E27FC236}">
                <a16:creationId xmlns:a16="http://schemas.microsoft.com/office/drawing/2014/main" id="{2DC11778-A5D4-624E-1865-C59CD7B983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4930" y="1029598"/>
            <a:ext cx="1784873" cy="17613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39" name="TextBox 138">
            <a:extLst>
              <a:ext uri="{FF2B5EF4-FFF2-40B4-BE49-F238E27FC236}">
                <a16:creationId xmlns:a16="http://schemas.microsoft.com/office/drawing/2014/main" id="{E73FB760-2CEE-8D0B-86CC-0A11E515DA0E}"/>
              </a:ext>
            </a:extLst>
          </p:cNvPr>
          <p:cNvSpPr txBox="1"/>
          <p:nvPr/>
        </p:nvSpPr>
        <p:spPr>
          <a:xfrm>
            <a:off x="6705281" y="742948"/>
            <a:ext cx="14842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Railway OCC</a:t>
            </a:r>
            <a:endParaRPr lang="en-SG" sz="1200" b="1" dirty="0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F5A3B86-893F-2E2A-7424-25B38B022C3B}"/>
              </a:ext>
            </a:extLst>
          </p:cNvPr>
          <p:cNvCxnSpPr>
            <a:cxnSpLocks/>
          </p:cNvCxnSpPr>
          <p:nvPr/>
        </p:nvCxnSpPr>
        <p:spPr>
          <a:xfrm>
            <a:off x="8565262" y="2678598"/>
            <a:ext cx="1178057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22695CFB-722C-5B5C-F3C6-E0DBCC809EF2}"/>
              </a:ext>
            </a:extLst>
          </p:cNvPr>
          <p:cNvSpPr/>
          <p:nvPr/>
        </p:nvSpPr>
        <p:spPr>
          <a:xfrm>
            <a:off x="7006060" y="1699922"/>
            <a:ext cx="493462" cy="64806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noFill/>
            </a:endParaRPr>
          </a:p>
        </p:txBody>
      </p:sp>
      <p:cxnSp>
        <p:nvCxnSpPr>
          <p:cNvPr id="155" name="Connector: Elbow 154">
            <a:extLst>
              <a:ext uri="{FF2B5EF4-FFF2-40B4-BE49-F238E27FC236}">
                <a16:creationId xmlns:a16="http://schemas.microsoft.com/office/drawing/2014/main" id="{1D0AFD3D-3081-9C8A-7C95-DAA92E3ABFA1}"/>
              </a:ext>
            </a:extLst>
          </p:cNvPr>
          <p:cNvCxnSpPr>
            <a:cxnSpLocks/>
            <a:stCxn id="151" idx="0"/>
          </p:cNvCxnSpPr>
          <p:nvPr/>
        </p:nvCxnSpPr>
        <p:spPr>
          <a:xfrm rot="5400000" flipH="1" flipV="1">
            <a:off x="7960257" y="935194"/>
            <a:ext cx="57262" cy="1472194"/>
          </a:xfrm>
          <a:prstGeom prst="bentConnector2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0E57FD4C-200A-D9CA-D697-17738A2E6F5F}"/>
              </a:ext>
            </a:extLst>
          </p:cNvPr>
          <p:cNvSpPr txBox="1"/>
          <p:nvPr/>
        </p:nvSpPr>
        <p:spPr>
          <a:xfrm>
            <a:off x="8650831" y="703019"/>
            <a:ext cx="191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OCC Train Monitor HMI</a:t>
            </a:r>
            <a:endParaRPr lang="en-SG" sz="12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4A495F4-478A-7353-7FF4-24A85FBCEB11}"/>
              </a:ext>
            </a:extLst>
          </p:cNvPr>
          <p:cNvSpPr txBox="1"/>
          <p:nvPr/>
        </p:nvSpPr>
        <p:spPr>
          <a:xfrm>
            <a:off x="701631" y="789952"/>
            <a:ext cx="56973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Radio Communication System and Remote Power Control in  Land-Based Railway Cyber Twin platform</a:t>
            </a:r>
            <a:endParaRPr lang="en-SG" b="1" dirty="0"/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89596FE9-7F56-FD1C-42E9-6F38EADBFF8D}"/>
              </a:ext>
            </a:extLst>
          </p:cNvPr>
          <p:cNvCxnSpPr>
            <a:cxnSpLocks/>
          </p:cNvCxnSpPr>
          <p:nvPr/>
        </p:nvCxnSpPr>
        <p:spPr>
          <a:xfrm>
            <a:off x="5284569" y="5974154"/>
            <a:ext cx="0" cy="23251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0059E56C-F292-792E-1A06-F8B43304EF35}"/>
              </a:ext>
            </a:extLst>
          </p:cNvPr>
          <p:cNvCxnSpPr>
            <a:cxnSpLocks/>
          </p:cNvCxnSpPr>
          <p:nvPr/>
        </p:nvCxnSpPr>
        <p:spPr>
          <a:xfrm>
            <a:off x="5306455" y="6193327"/>
            <a:ext cx="4018648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0DEBA0F9-FDB0-B5CA-DD0D-AA798E936D08}"/>
              </a:ext>
            </a:extLst>
          </p:cNvPr>
          <p:cNvCxnSpPr>
            <a:cxnSpLocks/>
          </p:cNvCxnSpPr>
          <p:nvPr/>
        </p:nvCxnSpPr>
        <p:spPr>
          <a:xfrm flipV="1">
            <a:off x="9859839" y="2670902"/>
            <a:ext cx="24969" cy="294338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193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86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yuancheng Liu</dc:creator>
  <cp:lastModifiedBy>yuancheng Liu</cp:lastModifiedBy>
  <cp:revision>4</cp:revision>
  <dcterms:created xsi:type="dcterms:W3CDTF">2026-05-07T07:14:30Z</dcterms:created>
  <dcterms:modified xsi:type="dcterms:W3CDTF">2026-05-08T05:16:10Z</dcterms:modified>
</cp:coreProperties>
</file>