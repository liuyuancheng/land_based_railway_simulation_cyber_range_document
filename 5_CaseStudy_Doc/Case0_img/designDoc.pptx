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71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2715EB-E2EB-42F3-8C73-85DCB3326215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3DCAB4-0F4A-4B1D-A039-CE22C5E63A9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86962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69004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5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299530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D41B8-F9E2-7090-8B9C-0202064B9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77EABA-95CE-91A7-2580-DD7C22DBF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667BE-B9B1-D47C-0E32-DA3B20E286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153FB-AD4A-2C88-D2F5-3FB67095C2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6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218604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3DCAB4-0F4A-4B1D-A039-CE22C5E63A9C}" type="slidenum">
              <a:rPr lang="en-SG" smtClean="0"/>
              <a:t>7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583032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8A31-0C0F-84AB-4FAF-ECA80D9DC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8D54E-83ED-8CF5-F2CA-D2B8E69BEA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F6605-F78F-8F79-72F9-E038EDE59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1D691-E9FC-4B03-CA9A-ACD4DC1AB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F63E23-5FDC-3ED7-7694-2239603C5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11904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7A0FB-9378-396F-197A-E96BA7FC1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01692-BFC0-7F3D-1BF6-2A556AEB32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3C955-0DA7-4668-72A2-B33BA5AF0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392EEA-EC81-926E-FC0E-5BD13AFD7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D2C5B-5776-6312-4F4B-B94D872C5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11372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12893-E087-32A8-A938-A576F36CE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EC7EB5-F5FA-2B6B-CA69-AAE5F9D1E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994D6-D2F1-3CA0-B845-6F0BA1943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DB3C3-185B-01EC-638A-ABFEF38AE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6AD13-67EA-8169-29A4-322D4E015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2232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9F351-D57D-6971-ACDC-63663FE95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DE8A2-DB4C-D724-F572-C6DAEDFD56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14870C-F6A0-48BF-CA47-E4EC9CB7C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C31BB1-717E-E33C-519D-0E45D429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DADED-5FC5-A637-241B-DFE763C95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76A5F4-B137-D9AC-EF42-29AB3F6F4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2262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EC872-F7A3-BE94-404C-3C4C6196C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7B114-5663-DB12-A2A4-24CE88AC4A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5EC1EB-8281-B9C7-59DD-95ED101DC4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F50DFC-F292-58F5-6845-FDEB49162F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91927C-F4F5-4480-D398-BA10B96ECF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CCD365-2D6C-0C54-96AC-3D649ABAC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832129-F1AC-4120-FAA3-4EC283BE4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D50051-4FA2-CC89-2D18-9B012469D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203329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62C77-2743-DC39-1D76-09F5686DC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8A2C36-8579-6A76-A45E-BB8044B04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D13113-A24A-02AC-0261-3ADA34446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8BB71-988E-A3E3-A94A-9C35C3888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102258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2018E4-3F84-F88B-DC6D-88D3163B0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7CE96E-93AA-0733-D461-CC4C1F7DE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C70FEE-6F04-2257-000F-82ADDF54B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11006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3A029-3F8F-CFFE-87B6-8D490E7A2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18E5A-BD8F-A855-FE5A-CA016B0B42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417BC-D8B1-BED5-D91B-81ED590A2D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F646EB-BF84-4F98-24F2-7C7517A44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78C065-10AA-6B2A-BFC4-00FAC93BA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F79739-E63B-FA24-978D-960D83EC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367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3BC0F-8020-EC27-9811-0F407446A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11EB41-8211-5427-435B-FFC9A1799F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A98618-AE77-1610-A3EF-C07822164E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5B0D4-BE20-5B2F-D4B0-BC8CAA684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725C66-28D8-5D77-4E88-79393E9FD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FE65DF-DA17-4EEF-EEF6-B7A131A43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24619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16C8B-06B8-2B50-938C-BF9B6359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A92790-4159-3116-9D98-D66BE0C648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914F82-F5B5-BA4E-597B-11A997F58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C6737D-F45E-EBD4-A280-CB88BDA7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19DEAE-6AD1-61E1-80B2-4D80E79FE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13453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C93180-8872-33DD-26BD-6EBF9C19AA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79C06B-5913-A274-027D-50D78C4BC7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3AE76-B00B-E9AF-EAF4-EE0BE90D28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1B2B29-4988-E274-04FC-3D42C96E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647E1-2EC0-C217-DB24-41BFE483A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707565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9E1820-86F1-56D1-ED98-E53B5DFFC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40116-F94B-73FF-D2FE-E53FFCF897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ED104-4CAC-CC97-858B-E4BFA1423C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BE27F4-F3F1-4FF7-9C3C-2BECB05327F1}" type="datetimeFigureOut">
              <a:rPr lang="en-SG" smtClean="0"/>
              <a:t>10/5/2026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DF3169-3DE3-39AD-2DEB-E9C8717EE1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673D6D-459B-EB95-7286-DFEE409C1F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99EEA8-FFB6-4B68-9EB2-D7E647FAFD1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495299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sv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13" Type="http://schemas.openxmlformats.org/officeDocument/2006/relationships/image" Target="../media/image16.svg"/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15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26.png"/><Relationship Id="rId5" Type="http://schemas.openxmlformats.org/officeDocument/2006/relationships/image" Target="../media/image21.png"/><Relationship Id="rId10" Type="http://schemas.openxmlformats.org/officeDocument/2006/relationships/image" Target="../media/image25.png"/><Relationship Id="rId4" Type="http://schemas.openxmlformats.org/officeDocument/2006/relationships/image" Target="../media/image20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76B2B5-5264-46F4-1F59-F2961F3A22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084" y="1978357"/>
            <a:ext cx="4502624" cy="2381888"/>
          </a:xfrm>
          <a:prstGeom prst="rect">
            <a:avLst/>
          </a:prstGeom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59048276-6A2D-7F1B-C469-93D3D8AD3161}"/>
              </a:ext>
            </a:extLst>
          </p:cNvPr>
          <p:cNvSpPr/>
          <p:nvPr/>
        </p:nvSpPr>
        <p:spPr>
          <a:xfrm>
            <a:off x="5374708" y="3089709"/>
            <a:ext cx="1834614" cy="339291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6" name="Picture 5" descr="A logo of a train&#10;&#10;AI-generated content may be incorrect.">
            <a:extLst>
              <a:ext uri="{FF2B5EF4-FFF2-40B4-BE49-F238E27FC236}">
                <a16:creationId xmlns:a16="http://schemas.microsoft.com/office/drawing/2014/main" id="{5E62BB00-D6C3-88DA-13D1-6F76420DA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966" y="2652268"/>
            <a:ext cx="1109328" cy="114008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36D9EE-C99F-A9CF-1E09-0BE7D27D13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9323" y="1973130"/>
            <a:ext cx="4110594" cy="233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6057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72A85F-23C1-5D4B-945B-C74A7D2D66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673" y="1193532"/>
            <a:ext cx="4405327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8E9F2C-53C7-3804-9C5A-089DFF81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546" y="1193532"/>
            <a:ext cx="4432970" cy="464660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45676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80820D67-DD1F-ADCF-FCFE-F01D392396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866522" y="4087368"/>
            <a:ext cx="3787778" cy="1114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C0076CB-F0B3-D918-DAE4-D6DDC3C6E439}"/>
              </a:ext>
            </a:extLst>
          </p:cNvPr>
          <p:cNvCxnSpPr>
            <a:cxnSpLocks/>
          </p:cNvCxnSpPr>
          <p:nvPr/>
        </p:nvCxnSpPr>
        <p:spPr>
          <a:xfrm>
            <a:off x="663105" y="5053236"/>
            <a:ext cx="1102918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adio tower - Free communications icons">
            <a:extLst>
              <a:ext uri="{FF2B5EF4-FFF2-40B4-BE49-F238E27FC236}">
                <a16:creationId xmlns:a16="http://schemas.microsoft.com/office/drawing/2014/main" id="{DBBA64DA-B62F-1FE8-729A-5586EBD4AB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4" y="5258541"/>
            <a:ext cx="650959" cy="650959"/>
          </a:xfrm>
          <a:prstGeom prst="rect">
            <a:avLst/>
          </a:prstGeom>
        </p:spPr>
      </p:pic>
      <p:pic>
        <p:nvPicPr>
          <p:cNvPr id="9" name="Picture 8" descr="Radio tower - Free communications icons">
            <a:extLst>
              <a:ext uri="{FF2B5EF4-FFF2-40B4-BE49-F238E27FC236}">
                <a16:creationId xmlns:a16="http://schemas.microsoft.com/office/drawing/2014/main" id="{708FA7AE-0243-AA2E-9DD9-70919EE3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9107" y="5223585"/>
            <a:ext cx="720873" cy="72087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92F178-50D0-AA7F-4EA6-B125EE122710}"/>
              </a:ext>
            </a:extLst>
          </p:cNvPr>
          <p:cNvCxnSpPr>
            <a:cxnSpLocks/>
          </p:cNvCxnSpPr>
          <p:nvPr/>
        </p:nvCxnSpPr>
        <p:spPr>
          <a:xfrm>
            <a:off x="66310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C8CE927-BF95-668E-6BC1-35ED52E702D0}"/>
              </a:ext>
            </a:extLst>
          </p:cNvPr>
          <p:cNvCxnSpPr>
            <a:cxnSpLocks/>
          </p:cNvCxnSpPr>
          <p:nvPr/>
        </p:nvCxnSpPr>
        <p:spPr>
          <a:xfrm>
            <a:off x="255286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F23AFA3-C53E-ED26-176C-9840BFD2E976}"/>
              </a:ext>
            </a:extLst>
          </p:cNvPr>
          <p:cNvCxnSpPr>
            <a:cxnSpLocks/>
          </p:cNvCxnSpPr>
          <p:nvPr/>
        </p:nvCxnSpPr>
        <p:spPr>
          <a:xfrm>
            <a:off x="4473105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F36244-1777-75F0-38CF-0DBE41C20C06}"/>
              </a:ext>
            </a:extLst>
          </p:cNvPr>
          <p:cNvCxnSpPr>
            <a:cxnSpLocks/>
          </p:cNvCxnSpPr>
          <p:nvPr/>
        </p:nvCxnSpPr>
        <p:spPr>
          <a:xfrm>
            <a:off x="6329337" y="4172364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E93B5FA-A168-BC0F-B1A1-4D6D01F58319}"/>
              </a:ext>
            </a:extLst>
          </p:cNvPr>
          <p:cNvCxnSpPr>
            <a:cxnSpLocks/>
          </p:cNvCxnSpPr>
          <p:nvPr/>
        </p:nvCxnSpPr>
        <p:spPr>
          <a:xfrm>
            <a:off x="8158137" y="4181508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Transformer - Free electronics icons">
            <a:extLst>
              <a:ext uri="{FF2B5EF4-FFF2-40B4-BE49-F238E27FC236}">
                <a16:creationId xmlns:a16="http://schemas.microsoft.com/office/drawing/2014/main" id="{27CA5BC6-BD66-1C68-15A4-1D81380B9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3645" y="2279755"/>
            <a:ext cx="797687" cy="797687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E801A6F-CB02-8484-5726-4EB009630592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1752488" y="3077442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BA40457E-7B1D-A88F-EBE5-E4F330F1A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6314" y="3387610"/>
            <a:ext cx="292347" cy="43364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2B1BC40-3F3E-848C-2E05-2478EE41E0C2}"/>
              </a:ext>
            </a:extLst>
          </p:cNvPr>
          <p:cNvSpPr txBox="1"/>
          <p:nvPr/>
        </p:nvSpPr>
        <p:spPr>
          <a:xfrm>
            <a:off x="1172801" y="1648316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750V DC Transformer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FB6382A-B0B9-6A85-045B-6A66BCEB02A7}"/>
              </a:ext>
            </a:extLst>
          </p:cNvPr>
          <p:cNvCxnSpPr>
            <a:cxnSpLocks/>
          </p:cNvCxnSpPr>
          <p:nvPr/>
        </p:nvCxnSpPr>
        <p:spPr>
          <a:xfrm flipH="1">
            <a:off x="1752487" y="3824435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A78165CB-B6A6-1979-71A8-D8E370BC33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5973" y="3395601"/>
            <a:ext cx="292347" cy="43364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1BFBCF4F-8A1D-9F89-1F17-087136FD6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4936" y="3395601"/>
            <a:ext cx="292347" cy="43364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7A5FF2FA-089A-B35A-5650-70384AEDF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8618" y="3370050"/>
            <a:ext cx="292347" cy="43364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C41471CF-A6C4-3653-1615-6D73E10284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6413" y="3360246"/>
            <a:ext cx="292347" cy="43364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C2E5FAA-10D9-B4F5-E1EC-B66AFD0CDEF9}"/>
              </a:ext>
            </a:extLst>
          </p:cNvPr>
          <p:cNvCxnSpPr>
            <a:cxnSpLocks/>
          </p:cNvCxnSpPr>
          <p:nvPr/>
        </p:nvCxnSpPr>
        <p:spPr>
          <a:xfrm>
            <a:off x="1752487" y="3191691"/>
            <a:ext cx="7159812" cy="445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FFD3457-2862-64D7-C1B5-5EB44C7A7A09}"/>
              </a:ext>
            </a:extLst>
          </p:cNvPr>
          <p:cNvSpPr txBox="1"/>
          <p:nvPr/>
        </p:nvSpPr>
        <p:spPr>
          <a:xfrm>
            <a:off x="814955" y="3135606"/>
            <a:ext cx="8855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Motorized control breaker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B3BDAAF-A520-E22D-DEBC-624B3F926058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3282146" y="3191691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0D9419F-21D5-5045-EF05-B385EEC22484}"/>
              </a:ext>
            </a:extLst>
          </p:cNvPr>
          <p:cNvCxnSpPr>
            <a:cxnSpLocks/>
          </p:cNvCxnSpPr>
          <p:nvPr/>
        </p:nvCxnSpPr>
        <p:spPr>
          <a:xfrm>
            <a:off x="3282146" y="3803698"/>
            <a:ext cx="0" cy="33889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61891D7-9523-0513-40DE-FBC3876C1EC9}"/>
              </a:ext>
            </a:extLst>
          </p:cNvPr>
          <p:cNvCxnSpPr>
            <a:cxnSpLocks/>
          </p:cNvCxnSpPr>
          <p:nvPr/>
        </p:nvCxnSpPr>
        <p:spPr>
          <a:xfrm flipH="1">
            <a:off x="5340376" y="3821258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54260F0-C412-5EF3-3236-1A005E41A01E}"/>
              </a:ext>
            </a:extLst>
          </p:cNvPr>
          <p:cNvCxnSpPr>
            <a:cxnSpLocks/>
          </p:cNvCxnSpPr>
          <p:nvPr/>
        </p:nvCxnSpPr>
        <p:spPr>
          <a:xfrm>
            <a:off x="7192356" y="3793894"/>
            <a:ext cx="0" cy="36812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29DBBDD3-1681-E2E6-5296-97D590774A05}"/>
              </a:ext>
            </a:extLst>
          </p:cNvPr>
          <p:cNvCxnSpPr>
            <a:cxnSpLocks/>
          </p:cNvCxnSpPr>
          <p:nvPr/>
        </p:nvCxnSpPr>
        <p:spPr>
          <a:xfrm flipH="1">
            <a:off x="8941470" y="3829249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A7B00CB-C4DA-B1C3-95F2-7AF3710EB670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5348560" y="3189538"/>
            <a:ext cx="2550" cy="20606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84AE7D4-4F04-30C0-F703-33C2C1B0FBCD}"/>
              </a:ext>
            </a:extLst>
          </p:cNvPr>
          <p:cNvCxnSpPr>
            <a:cxnSpLocks/>
          </p:cNvCxnSpPr>
          <p:nvPr/>
        </p:nvCxnSpPr>
        <p:spPr>
          <a:xfrm>
            <a:off x="7204790" y="3206496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C2DEA7D-41CB-781A-7C3B-839E6CD819E0}"/>
              </a:ext>
            </a:extLst>
          </p:cNvPr>
          <p:cNvCxnSpPr>
            <a:cxnSpLocks/>
          </p:cNvCxnSpPr>
          <p:nvPr/>
        </p:nvCxnSpPr>
        <p:spPr>
          <a:xfrm>
            <a:off x="8932586" y="3189538"/>
            <a:ext cx="0" cy="220868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B8FA6265-0622-57A9-9682-CB3BCECAA32B}"/>
              </a:ext>
            </a:extLst>
          </p:cNvPr>
          <p:cNvSpPr txBox="1"/>
          <p:nvPr/>
        </p:nvSpPr>
        <p:spPr>
          <a:xfrm>
            <a:off x="9909048" y="3893859"/>
            <a:ext cx="16215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Railway third track 750V DC [Power]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F55E3B0-1A42-648F-B538-10CF5DCD3BE5}"/>
              </a:ext>
            </a:extLst>
          </p:cNvPr>
          <p:cNvSpPr txBox="1"/>
          <p:nvPr/>
        </p:nvSpPr>
        <p:spPr>
          <a:xfrm>
            <a:off x="580371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B01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A83D4B-4A65-B964-22DD-6E990A16B02D}"/>
              </a:ext>
            </a:extLst>
          </p:cNvPr>
          <p:cNvSpPr txBox="1"/>
          <p:nvPr/>
        </p:nvSpPr>
        <p:spPr>
          <a:xfrm>
            <a:off x="2467253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B02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914E78-3B52-ADA0-FC96-585208000332}"/>
              </a:ext>
            </a:extLst>
          </p:cNvPr>
          <p:cNvSpPr txBox="1"/>
          <p:nvPr/>
        </p:nvSpPr>
        <p:spPr>
          <a:xfrm>
            <a:off x="4391512" y="392863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B03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781B51-84BE-E753-E1D7-A1BCB964612E}"/>
              </a:ext>
            </a:extLst>
          </p:cNvPr>
          <p:cNvSpPr txBox="1"/>
          <p:nvPr/>
        </p:nvSpPr>
        <p:spPr>
          <a:xfrm>
            <a:off x="6225527" y="390040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B04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C68BB2-6827-BA3D-55CA-8610B7C14437}"/>
              </a:ext>
            </a:extLst>
          </p:cNvPr>
          <p:cNvSpPr txBox="1"/>
          <p:nvPr/>
        </p:nvSpPr>
        <p:spPr>
          <a:xfrm>
            <a:off x="8080636" y="391874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B05</a:t>
            </a:r>
            <a:endParaRPr lang="en-SG" sz="1100" b="1" dirty="0">
              <a:solidFill>
                <a:srgbClr val="C00000"/>
              </a:solidFill>
            </a:endParaRPr>
          </a:p>
        </p:txBody>
      </p:sp>
      <p:pic>
        <p:nvPicPr>
          <p:cNvPr id="61" name="Picture 60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E133E8D8-C874-B90A-8CA5-FBBB6D8EB1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77" y="2035696"/>
            <a:ext cx="641390" cy="703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B0838A49-8446-132A-F45F-7533F46CDF5C}"/>
              </a:ext>
            </a:extLst>
          </p:cNvPr>
          <p:cNvSpPr txBox="1"/>
          <p:nvPr/>
        </p:nvSpPr>
        <p:spPr>
          <a:xfrm>
            <a:off x="4151462" y="1576752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Third track block power control PLC</a:t>
            </a:r>
            <a:endParaRPr lang="en-SG" sz="1200" b="1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E3E4967-54E5-416D-D4F1-2628D0B1F7BC}"/>
              </a:ext>
            </a:extLst>
          </p:cNvPr>
          <p:cNvCxnSpPr>
            <a:cxnSpLocks/>
          </p:cNvCxnSpPr>
          <p:nvPr/>
        </p:nvCxnSpPr>
        <p:spPr>
          <a:xfrm>
            <a:off x="2300830" y="3008376"/>
            <a:ext cx="61665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4F6901F7-96D8-0482-75A1-D408CF0F16F3}"/>
              </a:ext>
            </a:extLst>
          </p:cNvPr>
          <p:cNvCxnSpPr>
            <a:cxnSpLocks/>
            <a:endCxn id="32" idx="3"/>
          </p:cNvCxnSpPr>
          <p:nvPr/>
        </p:nvCxnSpPr>
        <p:spPr>
          <a:xfrm rot="5400000">
            <a:off x="3313450" y="3115257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F521A548-58E7-C5C0-A6F9-6F2063192A38}"/>
              </a:ext>
            </a:extLst>
          </p:cNvPr>
          <p:cNvCxnSpPr>
            <a:cxnSpLocks/>
          </p:cNvCxnSpPr>
          <p:nvPr/>
        </p:nvCxnSpPr>
        <p:spPr>
          <a:xfrm rot="5400000">
            <a:off x="1801336" y="3078658"/>
            <a:ext cx="596058" cy="42644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F9511936-9A1F-1A92-170A-5D6B2980BAA5}"/>
              </a:ext>
            </a:extLst>
          </p:cNvPr>
          <p:cNvCxnSpPr>
            <a:cxnSpLocks/>
          </p:cNvCxnSpPr>
          <p:nvPr/>
        </p:nvCxnSpPr>
        <p:spPr>
          <a:xfrm rot="5400000">
            <a:off x="5345962" y="3123247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EAFCED09-AA27-AE16-FECD-3B9F90718E4E}"/>
              </a:ext>
            </a:extLst>
          </p:cNvPr>
          <p:cNvCxnSpPr>
            <a:cxnSpLocks/>
            <a:endCxn id="34" idx="3"/>
          </p:cNvCxnSpPr>
          <p:nvPr/>
        </p:nvCxnSpPr>
        <p:spPr>
          <a:xfrm rot="5400000">
            <a:off x="7251920" y="3107423"/>
            <a:ext cx="578497" cy="380405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9E54BD4F-05D2-464E-1422-EF92CA04D26D}"/>
              </a:ext>
            </a:extLst>
          </p:cNvPr>
          <p:cNvCxnSpPr>
            <a:cxnSpLocks/>
            <a:endCxn id="35" idx="1"/>
          </p:cNvCxnSpPr>
          <p:nvPr/>
        </p:nvCxnSpPr>
        <p:spPr>
          <a:xfrm rot="16200000" flipH="1">
            <a:off x="8329747" y="3120404"/>
            <a:ext cx="576960" cy="33637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4D18D944-6C4D-5B11-6097-AD11FD11E7E0}"/>
              </a:ext>
            </a:extLst>
          </p:cNvPr>
          <p:cNvCxnSpPr>
            <a:stCxn id="61" idx="2"/>
          </p:cNvCxnSpPr>
          <p:nvPr/>
        </p:nvCxnSpPr>
        <p:spPr>
          <a:xfrm>
            <a:off x="4967472" y="2738850"/>
            <a:ext cx="0" cy="269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EAD9B22-88C0-AEF1-DE60-7D319549D932}"/>
              </a:ext>
            </a:extLst>
          </p:cNvPr>
          <p:cNvSpPr txBox="1"/>
          <p:nvPr/>
        </p:nvSpPr>
        <p:spPr>
          <a:xfrm>
            <a:off x="2738158" y="2719970"/>
            <a:ext cx="21081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48V one to one control link</a:t>
            </a:r>
            <a:endParaRPr lang="en-SG" sz="12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0719B34-6E87-332A-3013-D4DC654E92CE}"/>
              </a:ext>
            </a:extLst>
          </p:cNvPr>
          <p:cNvSpPr txBox="1"/>
          <p:nvPr/>
        </p:nvSpPr>
        <p:spPr>
          <a:xfrm>
            <a:off x="1862211" y="3604434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CR01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C20DD13-8565-A535-E1D5-57D48A8BBB35}"/>
              </a:ext>
            </a:extLst>
          </p:cNvPr>
          <p:cNvSpPr txBox="1"/>
          <p:nvPr/>
        </p:nvSpPr>
        <p:spPr>
          <a:xfrm>
            <a:off x="3394639" y="3620341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CR02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EECC0DB-3772-32DB-C471-890792ACEBE8}"/>
              </a:ext>
            </a:extLst>
          </p:cNvPr>
          <p:cNvSpPr txBox="1"/>
          <p:nvPr/>
        </p:nvSpPr>
        <p:spPr>
          <a:xfrm>
            <a:off x="5452868" y="3600441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CR03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8CEB9F9D-A775-8EA2-9DD7-CE2AD02A95AF}"/>
              </a:ext>
            </a:extLst>
          </p:cNvPr>
          <p:cNvSpPr txBox="1"/>
          <p:nvPr/>
        </p:nvSpPr>
        <p:spPr>
          <a:xfrm>
            <a:off x="7336613" y="359933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CR04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1130E5D-7E81-947D-EB8C-8B5680EF735B}"/>
              </a:ext>
            </a:extLst>
          </p:cNvPr>
          <p:cNvSpPr txBox="1"/>
          <p:nvPr/>
        </p:nvSpPr>
        <p:spPr>
          <a:xfrm>
            <a:off x="9055527" y="3567639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CR05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F4A88B5B-9465-B459-1AA4-A78FB38AC20A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5288167" y="2387273"/>
            <a:ext cx="147676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ABDFA732-E1B5-1B82-2332-0F9F74FE8BD9}"/>
              </a:ext>
            </a:extLst>
          </p:cNvPr>
          <p:cNvSpPr txBox="1"/>
          <p:nvPr/>
        </p:nvSpPr>
        <p:spPr>
          <a:xfrm>
            <a:off x="1357222" y="5408193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Antenna Next to the Track </a:t>
            </a:r>
            <a:endParaRPr lang="en-SG" sz="1200" b="1" dirty="0"/>
          </a:p>
        </p:txBody>
      </p:sp>
      <p:pic>
        <p:nvPicPr>
          <p:cNvPr id="92" name="Picture 91" descr="Radio tower - Free communications icons">
            <a:extLst>
              <a:ext uri="{FF2B5EF4-FFF2-40B4-BE49-F238E27FC236}">
                <a16:creationId xmlns:a16="http://schemas.microsoft.com/office/drawing/2014/main" id="{0B372284-DF50-56BB-F64C-9DB2098A1A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601" y="5238821"/>
            <a:ext cx="656160" cy="656160"/>
          </a:xfrm>
          <a:prstGeom prst="rect">
            <a:avLst/>
          </a:prstGeom>
        </p:spPr>
      </p:pic>
      <p:pic>
        <p:nvPicPr>
          <p:cNvPr id="94" name="Graphic 93" descr="Wi-Fi with solid fill">
            <a:extLst>
              <a:ext uri="{FF2B5EF4-FFF2-40B4-BE49-F238E27FC236}">
                <a16:creationId xmlns:a16="http://schemas.microsoft.com/office/drawing/2014/main" id="{A52C51AE-AB42-388A-E0F0-69919AF73C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42689" y="4223369"/>
            <a:ext cx="481011" cy="481011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95910EFF-ED7F-CCC6-0821-FA1FB6375FDA}"/>
              </a:ext>
            </a:extLst>
          </p:cNvPr>
          <p:cNvSpPr txBox="1"/>
          <p:nvPr/>
        </p:nvSpPr>
        <p:spPr>
          <a:xfrm>
            <a:off x="3988383" y="3494500"/>
            <a:ext cx="10428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Radio Antenna </a:t>
            </a:r>
            <a:endParaRPr lang="en-SG" sz="1200" b="1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C5F4C25-88E5-3505-9DD4-50E67F4CC5C4}"/>
              </a:ext>
            </a:extLst>
          </p:cNvPr>
          <p:cNvCxnSpPr>
            <a:cxnSpLocks/>
          </p:cNvCxnSpPr>
          <p:nvPr/>
        </p:nvCxnSpPr>
        <p:spPr>
          <a:xfrm>
            <a:off x="4409463" y="4591845"/>
            <a:ext cx="558009" cy="72859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5689B53D-C5BA-8384-CD4E-F2184CDC6096}"/>
              </a:ext>
            </a:extLst>
          </p:cNvPr>
          <p:cNvCxnSpPr>
            <a:stCxn id="92" idx="2"/>
          </p:cNvCxnSpPr>
          <p:nvPr/>
        </p:nvCxnSpPr>
        <p:spPr>
          <a:xfrm>
            <a:off x="1215681" y="5894981"/>
            <a:ext cx="0" cy="158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691C67F9-6639-D036-3048-E239015406A5}"/>
              </a:ext>
            </a:extLst>
          </p:cNvPr>
          <p:cNvSpPr txBox="1"/>
          <p:nvPr/>
        </p:nvSpPr>
        <p:spPr>
          <a:xfrm>
            <a:off x="4595623" y="4420804"/>
            <a:ext cx="1803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Train Broadcast  Operation Information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9D93B72-2ECD-2420-38E2-74F22A65A4E4}"/>
              </a:ext>
            </a:extLst>
          </p:cNvPr>
          <p:cNvCxnSpPr>
            <a:cxnSpLocks/>
          </p:cNvCxnSpPr>
          <p:nvPr/>
        </p:nvCxnSpPr>
        <p:spPr>
          <a:xfrm>
            <a:off x="4387818" y="3938006"/>
            <a:ext cx="2495" cy="34940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772F9F2-766E-0297-5011-CC3AA22180EC}"/>
              </a:ext>
            </a:extLst>
          </p:cNvPr>
          <p:cNvCxnSpPr>
            <a:cxnSpLocks/>
          </p:cNvCxnSpPr>
          <p:nvPr/>
        </p:nvCxnSpPr>
        <p:spPr>
          <a:xfrm flipH="1">
            <a:off x="1421343" y="4463874"/>
            <a:ext cx="2733637" cy="86871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C2B8FDCD-993E-ACD7-4635-90BF67914C0F}"/>
              </a:ext>
            </a:extLst>
          </p:cNvPr>
          <p:cNvSpPr txBox="1"/>
          <p:nvPr/>
        </p:nvSpPr>
        <p:spPr>
          <a:xfrm>
            <a:off x="675970" y="5647890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T01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27ECE8-8904-9967-4774-7260A4A40A93}"/>
              </a:ext>
            </a:extLst>
          </p:cNvPr>
          <p:cNvSpPr txBox="1"/>
          <p:nvPr/>
        </p:nvSpPr>
        <p:spPr>
          <a:xfrm>
            <a:off x="4595623" y="5635090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T02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DAB2D25-9105-730D-10D2-E61A62C56248}"/>
              </a:ext>
            </a:extLst>
          </p:cNvPr>
          <p:cNvSpPr txBox="1"/>
          <p:nvPr/>
        </p:nvSpPr>
        <p:spPr>
          <a:xfrm>
            <a:off x="8330678" y="5663354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T03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3F9DF69-742C-8FA8-A2B0-F691330380A6}"/>
              </a:ext>
            </a:extLst>
          </p:cNvPr>
          <p:cNvCxnSpPr>
            <a:cxnSpLocks/>
          </p:cNvCxnSpPr>
          <p:nvPr/>
        </p:nvCxnSpPr>
        <p:spPr>
          <a:xfrm>
            <a:off x="1206537" y="6056885"/>
            <a:ext cx="8166464" cy="502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AC1CFFAC-0BE6-E4D6-47C9-94BBC23FDD1E}"/>
              </a:ext>
            </a:extLst>
          </p:cNvPr>
          <p:cNvCxnSpPr>
            <a:cxnSpLocks/>
          </p:cNvCxnSpPr>
          <p:nvPr/>
        </p:nvCxnSpPr>
        <p:spPr>
          <a:xfrm>
            <a:off x="5171803" y="5909500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19449C96-6147-DDE7-21D8-CF2155EF5E6D}"/>
              </a:ext>
            </a:extLst>
          </p:cNvPr>
          <p:cNvCxnSpPr>
            <a:cxnSpLocks/>
          </p:cNvCxnSpPr>
          <p:nvPr/>
        </p:nvCxnSpPr>
        <p:spPr>
          <a:xfrm>
            <a:off x="8881938" y="5924964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6F8FCD0D-711B-E88D-4C0C-7EBB52E432C7}"/>
              </a:ext>
            </a:extLst>
          </p:cNvPr>
          <p:cNvSpPr txBox="1"/>
          <p:nvPr/>
        </p:nvSpPr>
        <p:spPr>
          <a:xfrm>
            <a:off x="5452868" y="5747617"/>
            <a:ext cx="295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Train Operation Information Data Bus </a:t>
            </a:r>
            <a:endParaRPr lang="en-SG" sz="1200" b="1"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81536D14-EE1F-8C8F-7DA5-4F86A10551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3000" y="5694044"/>
            <a:ext cx="720873" cy="512621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452302C9-8EC4-9598-961F-3CB1485C980F}"/>
              </a:ext>
            </a:extLst>
          </p:cNvPr>
          <p:cNvSpPr txBox="1"/>
          <p:nvPr/>
        </p:nvSpPr>
        <p:spPr>
          <a:xfrm>
            <a:off x="10141770" y="5713625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Link Data Management RTU</a:t>
            </a:r>
            <a:endParaRPr lang="en-SG" sz="1200" b="1" dirty="0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45562723-03B4-3277-BBE2-6F8DC7626F79}"/>
              </a:ext>
            </a:extLst>
          </p:cNvPr>
          <p:cNvCxnSpPr>
            <a:cxnSpLocks/>
            <a:endCxn id="123" idx="0"/>
          </p:cNvCxnSpPr>
          <p:nvPr/>
        </p:nvCxnSpPr>
        <p:spPr>
          <a:xfrm>
            <a:off x="9733437" y="2678598"/>
            <a:ext cx="0" cy="301544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C34A02D-35ED-0B00-5046-4CCFF23C33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24985" y="990693"/>
            <a:ext cx="2983277" cy="160351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047910D8-B3FA-2DB5-DE81-4C29EEB9C32B}"/>
              </a:ext>
            </a:extLst>
          </p:cNvPr>
          <p:cNvSpPr txBox="1"/>
          <p:nvPr/>
        </p:nvSpPr>
        <p:spPr>
          <a:xfrm>
            <a:off x="5321391" y="2029346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Modbus-TCP Bus </a:t>
            </a:r>
            <a:endParaRPr lang="en-SG" sz="1200" b="1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018FE10-AA12-9EA8-39B4-C695AF1C7303}"/>
              </a:ext>
            </a:extLst>
          </p:cNvPr>
          <p:cNvSpPr txBox="1"/>
          <p:nvPr/>
        </p:nvSpPr>
        <p:spPr>
          <a:xfrm>
            <a:off x="9909048" y="2993850"/>
            <a:ext cx="13048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Siemens</a:t>
            </a:r>
          </a:p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S7Comm Bus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2DC11778-A5D4-624E-1865-C59CD7B983E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4930" y="1029598"/>
            <a:ext cx="1784873" cy="176138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E73FB760-2CEE-8D0B-86CC-0A11E515DA0E}"/>
              </a:ext>
            </a:extLst>
          </p:cNvPr>
          <p:cNvSpPr txBox="1"/>
          <p:nvPr/>
        </p:nvSpPr>
        <p:spPr>
          <a:xfrm>
            <a:off x="6705281" y="742948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OCC</a:t>
            </a:r>
            <a:endParaRPr lang="en-SG" sz="120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BF5A3B86-893F-2E2A-7424-25B38B022C3B}"/>
              </a:ext>
            </a:extLst>
          </p:cNvPr>
          <p:cNvCxnSpPr>
            <a:cxnSpLocks/>
          </p:cNvCxnSpPr>
          <p:nvPr/>
        </p:nvCxnSpPr>
        <p:spPr>
          <a:xfrm>
            <a:off x="8565262" y="2678598"/>
            <a:ext cx="1178057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22695CFB-722C-5B5C-F3C6-E0DBCC809EF2}"/>
              </a:ext>
            </a:extLst>
          </p:cNvPr>
          <p:cNvSpPr/>
          <p:nvPr/>
        </p:nvSpPr>
        <p:spPr>
          <a:xfrm>
            <a:off x="7006060" y="1699922"/>
            <a:ext cx="493462" cy="64806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noFill/>
            </a:endParaRPr>
          </a:p>
        </p:txBody>
      </p: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1D0AFD3D-3081-9C8A-7C95-DAA92E3ABFA1}"/>
              </a:ext>
            </a:extLst>
          </p:cNvPr>
          <p:cNvCxnSpPr>
            <a:cxnSpLocks/>
            <a:stCxn id="151" idx="0"/>
          </p:cNvCxnSpPr>
          <p:nvPr/>
        </p:nvCxnSpPr>
        <p:spPr>
          <a:xfrm rot="5400000" flipH="1" flipV="1">
            <a:off x="7960257" y="935194"/>
            <a:ext cx="57262" cy="1472194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0E57FD4C-200A-D9CA-D697-17738A2E6F5F}"/>
              </a:ext>
            </a:extLst>
          </p:cNvPr>
          <p:cNvSpPr txBox="1"/>
          <p:nvPr/>
        </p:nvSpPr>
        <p:spPr>
          <a:xfrm>
            <a:off x="8650831" y="703019"/>
            <a:ext cx="19123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OCC Train Monitor HMI</a:t>
            </a:r>
            <a:endParaRPr lang="en-SG" sz="120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34A495F4-478A-7353-7FF4-24A85FBCEB11}"/>
              </a:ext>
            </a:extLst>
          </p:cNvPr>
          <p:cNvSpPr txBox="1"/>
          <p:nvPr/>
        </p:nvSpPr>
        <p:spPr>
          <a:xfrm>
            <a:off x="701631" y="789952"/>
            <a:ext cx="56973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Radio Communication System and Remote Power Control in  Land-Based Railway Cyber Twin platform</a:t>
            </a:r>
            <a:endParaRPr lang="en-SG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89596FE9-7F56-FD1C-42E9-6F38EADBFF8D}"/>
              </a:ext>
            </a:extLst>
          </p:cNvPr>
          <p:cNvCxnSpPr>
            <a:cxnSpLocks/>
          </p:cNvCxnSpPr>
          <p:nvPr/>
        </p:nvCxnSpPr>
        <p:spPr>
          <a:xfrm>
            <a:off x="5284569" y="5974154"/>
            <a:ext cx="0" cy="23251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0059E56C-F292-792E-1A06-F8B43304EF35}"/>
              </a:ext>
            </a:extLst>
          </p:cNvPr>
          <p:cNvCxnSpPr>
            <a:cxnSpLocks/>
          </p:cNvCxnSpPr>
          <p:nvPr/>
        </p:nvCxnSpPr>
        <p:spPr>
          <a:xfrm>
            <a:off x="5306455" y="6193327"/>
            <a:ext cx="401864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0DEBA0F9-FDB0-B5CA-DD0D-AA798E936D08}"/>
              </a:ext>
            </a:extLst>
          </p:cNvPr>
          <p:cNvCxnSpPr>
            <a:cxnSpLocks/>
          </p:cNvCxnSpPr>
          <p:nvPr/>
        </p:nvCxnSpPr>
        <p:spPr>
          <a:xfrm flipV="1">
            <a:off x="9859839" y="2670902"/>
            <a:ext cx="24969" cy="294338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5193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8D64C-6EA6-A790-CD14-7D601005C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1DFC8DD-13C5-19CC-3E46-2F15740B9AAB}"/>
              </a:ext>
            </a:extLst>
          </p:cNvPr>
          <p:cNvCxnSpPr>
            <a:cxnSpLocks/>
          </p:cNvCxnSpPr>
          <p:nvPr/>
        </p:nvCxnSpPr>
        <p:spPr>
          <a:xfrm>
            <a:off x="2497160" y="6250497"/>
            <a:ext cx="1324223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Train Side View: Over 3,932 Royalty-Free Licensable Stock Illustrations &amp;  Drawings | Shutterstock">
            <a:extLst>
              <a:ext uri="{FF2B5EF4-FFF2-40B4-BE49-F238E27FC236}">
                <a16:creationId xmlns:a16="http://schemas.microsoft.com/office/drawing/2014/main" id="{15BD1BCF-4F4C-3555-7F17-5C008F864A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869" b="33339"/>
          <a:stretch/>
        </p:blipFill>
        <p:spPr bwMode="auto">
          <a:xfrm flipH="1">
            <a:off x="866522" y="3667809"/>
            <a:ext cx="3787778" cy="1114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B5AD19-19C3-472E-9A11-9EE0453C73FB}"/>
              </a:ext>
            </a:extLst>
          </p:cNvPr>
          <p:cNvCxnSpPr>
            <a:cxnSpLocks/>
          </p:cNvCxnSpPr>
          <p:nvPr/>
        </p:nvCxnSpPr>
        <p:spPr>
          <a:xfrm>
            <a:off x="663105" y="4633677"/>
            <a:ext cx="11029183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Radio tower - Free communications icons">
            <a:extLst>
              <a:ext uri="{FF2B5EF4-FFF2-40B4-BE49-F238E27FC236}">
                <a16:creationId xmlns:a16="http://schemas.microsoft.com/office/drawing/2014/main" id="{64411AB7-3046-C70B-435E-E17A45140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4" y="4838982"/>
            <a:ext cx="650959" cy="650959"/>
          </a:xfrm>
          <a:prstGeom prst="rect">
            <a:avLst/>
          </a:prstGeom>
        </p:spPr>
      </p:pic>
      <p:pic>
        <p:nvPicPr>
          <p:cNvPr id="9" name="Picture 8" descr="Radio tower - Free communications icons">
            <a:extLst>
              <a:ext uri="{FF2B5EF4-FFF2-40B4-BE49-F238E27FC236}">
                <a16:creationId xmlns:a16="http://schemas.microsoft.com/office/drawing/2014/main" id="{ABCC7E14-C392-21D2-253F-B46CF3839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107" y="4804026"/>
            <a:ext cx="720873" cy="720873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AFBF9F-E5AB-A423-3E13-C866A1AD8961}"/>
              </a:ext>
            </a:extLst>
          </p:cNvPr>
          <p:cNvCxnSpPr>
            <a:cxnSpLocks/>
          </p:cNvCxnSpPr>
          <p:nvPr/>
        </p:nvCxnSpPr>
        <p:spPr>
          <a:xfrm>
            <a:off x="66310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6A3B20-DC03-60EF-CF26-E517064A528D}"/>
              </a:ext>
            </a:extLst>
          </p:cNvPr>
          <p:cNvCxnSpPr>
            <a:cxnSpLocks/>
          </p:cNvCxnSpPr>
          <p:nvPr/>
        </p:nvCxnSpPr>
        <p:spPr>
          <a:xfrm>
            <a:off x="255286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E0E8643-232B-077D-C502-5BECE6988D5C}"/>
              </a:ext>
            </a:extLst>
          </p:cNvPr>
          <p:cNvCxnSpPr>
            <a:cxnSpLocks/>
          </p:cNvCxnSpPr>
          <p:nvPr/>
        </p:nvCxnSpPr>
        <p:spPr>
          <a:xfrm>
            <a:off x="4473105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E5EB64E-9AF4-198C-62D0-0EFE9198FA3C}"/>
              </a:ext>
            </a:extLst>
          </p:cNvPr>
          <p:cNvCxnSpPr>
            <a:cxnSpLocks/>
          </p:cNvCxnSpPr>
          <p:nvPr/>
        </p:nvCxnSpPr>
        <p:spPr>
          <a:xfrm>
            <a:off x="6329337" y="3752805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4727E39-E5E8-CDAD-8E1B-9F7675A7587E}"/>
              </a:ext>
            </a:extLst>
          </p:cNvPr>
          <p:cNvCxnSpPr>
            <a:cxnSpLocks/>
          </p:cNvCxnSpPr>
          <p:nvPr/>
        </p:nvCxnSpPr>
        <p:spPr>
          <a:xfrm>
            <a:off x="8158137" y="3761949"/>
            <a:ext cx="1750911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Transformer - Free electronics icons">
            <a:extLst>
              <a:ext uri="{FF2B5EF4-FFF2-40B4-BE49-F238E27FC236}">
                <a16:creationId xmlns:a16="http://schemas.microsoft.com/office/drawing/2014/main" id="{FB78C5A9-6D64-3022-C4CF-4E01439815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3645" y="1860196"/>
            <a:ext cx="797687" cy="797687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3C48ABE-0763-21BC-5484-D5CFD33C35CD}"/>
              </a:ext>
            </a:extLst>
          </p:cNvPr>
          <p:cNvCxnSpPr>
            <a:cxnSpLocks/>
            <a:stCxn id="20" idx="2"/>
          </p:cNvCxnSpPr>
          <p:nvPr/>
        </p:nvCxnSpPr>
        <p:spPr>
          <a:xfrm flipH="1">
            <a:off x="1752488" y="2657883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5F2F976-19DD-EC71-3EC5-2F631BC8E9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6314" y="2968051"/>
            <a:ext cx="292347" cy="43364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691FE69-FF58-E7C5-7381-5E1DC1544296}"/>
              </a:ext>
            </a:extLst>
          </p:cNvPr>
          <p:cNvSpPr txBox="1"/>
          <p:nvPr/>
        </p:nvSpPr>
        <p:spPr>
          <a:xfrm>
            <a:off x="1172801" y="1228757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750V DC Transformer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4C3529D-25B2-F609-4AE2-E950EB50BA3D}"/>
              </a:ext>
            </a:extLst>
          </p:cNvPr>
          <p:cNvCxnSpPr>
            <a:cxnSpLocks/>
          </p:cNvCxnSpPr>
          <p:nvPr/>
        </p:nvCxnSpPr>
        <p:spPr>
          <a:xfrm flipH="1">
            <a:off x="1752487" y="3404876"/>
            <a:ext cx="1" cy="318159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2602B705-BBCD-3927-5BE4-057EE3F0C2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5973" y="2976042"/>
            <a:ext cx="292347" cy="433648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4217A6B-B362-E5A6-2BD5-552D420C66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4936" y="2976042"/>
            <a:ext cx="292347" cy="433648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07EAE5-756E-A9C4-19CE-900E392C7B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58618" y="2950491"/>
            <a:ext cx="292347" cy="433648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D8EA4981-2EA6-41F4-3476-AE14670672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6413" y="2940687"/>
            <a:ext cx="292347" cy="433648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C91442E-701C-10D8-44D8-A1258DAF5677}"/>
              </a:ext>
            </a:extLst>
          </p:cNvPr>
          <p:cNvCxnSpPr>
            <a:cxnSpLocks/>
          </p:cNvCxnSpPr>
          <p:nvPr/>
        </p:nvCxnSpPr>
        <p:spPr>
          <a:xfrm>
            <a:off x="1752487" y="2772132"/>
            <a:ext cx="7159812" cy="445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7B184E07-C982-137B-17F6-81FB3BCB2499}"/>
              </a:ext>
            </a:extLst>
          </p:cNvPr>
          <p:cNvSpPr txBox="1"/>
          <p:nvPr/>
        </p:nvSpPr>
        <p:spPr>
          <a:xfrm>
            <a:off x="814955" y="2716047"/>
            <a:ext cx="8855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Motorized control breaker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0C79B5F-B90E-2D05-DBE3-01BC03DE6722}"/>
              </a:ext>
            </a:extLst>
          </p:cNvPr>
          <p:cNvCxnSpPr>
            <a:cxnSpLocks/>
            <a:endCxn id="32" idx="0"/>
          </p:cNvCxnSpPr>
          <p:nvPr/>
        </p:nvCxnSpPr>
        <p:spPr>
          <a:xfrm>
            <a:off x="3282146" y="2772132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7863D6-F49D-B0B0-ECF3-FDE989C17116}"/>
              </a:ext>
            </a:extLst>
          </p:cNvPr>
          <p:cNvCxnSpPr>
            <a:cxnSpLocks/>
          </p:cNvCxnSpPr>
          <p:nvPr/>
        </p:nvCxnSpPr>
        <p:spPr>
          <a:xfrm>
            <a:off x="3282146" y="3384139"/>
            <a:ext cx="0" cy="33889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DD348BF-0B32-E2E5-1351-8A3582097FD1}"/>
              </a:ext>
            </a:extLst>
          </p:cNvPr>
          <p:cNvCxnSpPr>
            <a:cxnSpLocks/>
          </p:cNvCxnSpPr>
          <p:nvPr/>
        </p:nvCxnSpPr>
        <p:spPr>
          <a:xfrm flipH="1">
            <a:off x="5340376" y="3401699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F14FCC5-14CA-35EC-4500-F1F4326F1510}"/>
              </a:ext>
            </a:extLst>
          </p:cNvPr>
          <p:cNvCxnSpPr>
            <a:cxnSpLocks/>
          </p:cNvCxnSpPr>
          <p:nvPr/>
        </p:nvCxnSpPr>
        <p:spPr>
          <a:xfrm>
            <a:off x="7192356" y="3374335"/>
            <a:ext cx="0" cy="36812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D4209E6-F447-E0D0-F74A-03DA92CF7085}"/>
              </a:ext>
            </a:extLst>
          </p:cNvPr>
          <p:cNvCxnSpPr>
            <a:cxnSpLocks/>
          </p:cNvCxnSpPr>
          <p:nvPr/>
        </p:nvCxnSpPr>
        <p:spPr>
          <a:xfrm flipH="1">
            <a:off x="8941470" y="3409690"/>
            <a:ext cx="8185" cy="35110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137A0A4-BC1F-8AB0-3202-26B60CD891BC}"/>
              </a:ext>
            </a:extLst>
          </p:cNvPr>
          <p:cNvCxnSpPr>
            <a:cxnSpLocks/>
            <a:endCxn id="33" idx="0"/>
          </p:cNvCxnSpPr>
          <p:nvPr/>
        </p:nvCxnSpPr>
        <p:spPr>
          <a:xfrm>
            <a:off x="5348560" y="2769979"/>
            <a:ext cx="2550" cy="20606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F8AC1E8-67F2-A9E7-FE0D-9E920BD1C1E4}"/>
              </a:ext>
            </a:extLst>
          </p:cNvPr>
          <p:cNvCxnSpPr>
            <a:cxnSpLocks/>
          </p:cNvCxnSpPr>
          <p:nvPr/>
        </p:nvCxnSpPr>
        <p:spPr>
          <a:xfrm>
            <a:off x="7204790" y="2786937"/>
            <a:ext cx="1" cy="20391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9A153FD-C575-A583-0B39-926027BE86C0}"/>
              </a:ext>
            </a:extLst>
          </p:cNvPr>
          <p:cNvCxnSpPr>
            <a:cxnSpLocks/>
          </p:cNvCxnSpPr>
          <p:nvPr/>
        </p:nvCxnSpPr>
        <p:spPr>
          <a:xfrm>
            <a:off x="8932586" y="2769979"/>
            <a:ext cx="0" cy="220868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41847453-E923-DE26-99E9-B89370179254}"/>
              </a:ext>
            </a:extLst>
          </p:cNvPr>
          <p:cNvSpPr txBox="1"/>
          <p:nvPr/>
        </p:nvSpPr>
        <p:spPr>
          <a:xfrm>
            <a:off x="9909048" y="3474300"/>
            <a:ext cx="16215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Railway third track 750V DC [Power]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53A716-D9B6-A75F-1FA1-B9C30DC3B3E7}"/>
              </a:ext>
            </a:extLst>
          </p:cNvPr>
          <p:cNvSpPr txBox="1"/>
          <p:nvPr/>
        </p:nvSpPr>
        <p:spPr>
          <a:xfrm>
            <a:off x="580371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B01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3CDE4B-9F75-4341-FB11-E9784C7EB422}"/>
              </a:ext>
            </a:extLst>
          </p:cNvPr>
          <p:cNvSpPr txBox="1"/>
          <p:nvPr/>
        </p:nvSpPr>
        <p:spPr>
          <a:xfrm>
            <a:off x="2467253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B02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E186E4F-A978-5834-77F9-CD9B634F6791}"/>
              </a:ext>
            </a:extLst>
          </p:cNvPr>
          <p:cNvSpPr txBox="1"/>
          <p:nvPr/>
        </p:nvSpPr>
        <p:spPr>
          <a:xfrm>
            <a:off x="4391512" y="3509077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B03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AFC5B44-3E6A-D3C9-0772-348CE7C66201}"/>
              </a:ext>
            </a:extLst>
          </p:cNvPr>
          <p:cNvSpPr txBox="1"/>
          <p:nvPr/>
        </p:nvSpPr>
        <p:spPr>
          <a:xfrm>
            <a:off x="6225527" y="348084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B04</a:t>
            </a:r>
            <a:endParaRPr lang="en-SG" sz="1100" b="1" dirty="0">
              <a:solidFill>
                <a:srgbClr val="C000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26A31C-6E6B-59E2-A3D5-C2DF10872270}"/>
              </a:ext>
            </a:extLst>
          </p:cNvPr>
          <p:cNvSpPr txBox="1"/>
          <p:nvPr/>
        </p:nvSpPr>
        <p:spPr>
          <a:xfrm>
            <a:off x="8080636" y="3499186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C00000"/>
                </a:solidFill>
              </a:rPr>
              <a:t>B05</a:t>
            </a:r>
            <a:endParaRPr lang="en-SG" sz="1100" b="1" dirty="0">
              <a:solidFill>
                <a:srgbClr val="C00000"/>
              </a:solidFill>
            </a:endParaRPr>
          </a:p>
        </p:txBody>
      </p:sp>
      <p:pic>
        <p:nvPicPr>
          <p:cNvPr id="61" name="Picture 60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A914E5D3-23BD-E4F3-04DB-92A33BBC55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6777" y="1616137"/>
            <a:ext cx="641390" cy="703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816B0D72-AC7F-811B-3A77-7B858D399BF2}"/>
              </a:ext>
            </a:extLst>
          </p:cNvPr>
          <p:cNvSpPr txBox="1"/>
          <p:nvPr/>
        </p:nvSpPr>
        <p:spPr>
          <a:xfrm>
            <a:off x="4151462" y="1157193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Third track block power control PLC</a:t>
            </a:r>
            <a:endParaRPr lang="en-SG" sz="1200" b="1" dirty="0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E5E0B0C-3DDA-A1AA-A091-36CD0E168958}"/>
              </a:ext>
            </a:extLst>
          </p:cNvPr>
          <p:cNvCxnSpPr>
            <a:cxnSpLocks/>
          </p:cNvCxnSpPr>
          <p:nvPr/>
        </p:nvCxnSpPr>
        <p:spPr>
          <a:xfrm>
            <a:off x="2300830" y="2588817"/>
            <a:ext cx="616651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5EAA0579-DC5A-D7BD-152F-FEB74EF0F2E2}"/>
              </a:ext>
            </a:extLst>
          </p:cNvPr>
          <p:cNvCxnSpPr>
            <a:cxnSpLocks/>
            <a:endCxn id="32" idx="3"/>
          </p:cNvCxnSpPr>
          <p:nvPr/>
        </p:nvCxnSpPr>
        <p:spPr>
          <a:xfrm rot="5400000">
            <a:off x="3313450" y="2695698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402BB6C7-E906-68BF-1E40-01D2A9768DE6}"/>
              </a:ext>
            </a:extLst>
          </p:cNvPr>
          <p:cNvCxnSpPr>
            <a:cxnSpLocks/>
          </p:cNvCxnSpPr>
          <p:nvPr/>
        </p:nvCxnSpPr>
        <p:spPr>
          <a:xfrm rot="5400000">
            <a:off x="1801336" y="2659099"/>
            <a:ext cx="596058" cy="426443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372CF42-2071-8EB7-6E4E-D8E28F4B8617}"/>
              </a:ext>
            </a:extLst>
          </p:cNvPr>
          <p:cNvCxnSpPr>
            <a:cxnSpLocks/>
          </p:cNvCxnSpPr>
          <p:nvPr/>
        </p:nvCxnSpPr>
        <p:spPr>
          <a:xfrm rot="5400000">
            <a:off x="5345962" y="2703688"/>
            <a:ext cx="612039" cy="3822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B3741AF-DEF4-42F5-EEE9-C0BDC9257A8E}"/>
              </a:ext>
            </a:extLst>
          </p:cNvPr>
          <p:cNvCxnSpPr>
            <a:cxnSpLocks/>
            <a:endCxn id="34" idx="3"/>
          </p:cNvCxnSpPr>
          <p:nvPr/>
        </p:nvCxnSpPr>
        <p:spPr>
          <a:xfrm rot="5400000">
            <a:off x="7251920" y="2687864"/>
            <a:ext cx="578497" cy="380405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7BF06E85-B054-D7E5-9CF4-EE154010C8C8}"/>
              </a:ext>
            </a:extLst>
          </p:cNvPr>
          <p:cNvCxnSpPr>
            <a:cxnSpLocks/>
            <a:endCxn id="35" idx="1"/>
          </p:cNvCxnSpPr>
          <p:nvPr/>
        </p:nvCxnSpPr>
        <p:spPr>
          <a:xfrm rot="16200000" flipH="1">
            <a:off x="8329747" y="2700845"/>
            <a:ext cx="576960" cy="336372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C2B3C422-9614-7B2A-14F1-E91C319F4C2E}"/>
              </a:ext>
            </a:extLst>
          </p:cNvPr>
          <p:cNvCxnSpPr>
            <a:stCxn id="61" idx="2"/>
          </p:cNvCxnSpPr>
          <p:nvPr/>
        </p:nvCxnSpPr>
        <p:spPr>
          <a:xfrm>
            <a:off x="4967472" y="2319291"/>
            <a:ext cx="0" cy="269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F032BA19-2576-8D20-858E-716796416E17}"/>
              </a:ext>
            </a:extLst>
          </p:cNvPr>
          <p:cNvSpPr txBox="1"/>
          <p:nvPr/>
        </p:nvSpPr>
        <p:spPr>
          <a:xfrm>
            <a:off x="2566621" y="2323273"/>
            <a:ext cx="210816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48V one to one control link</a:t>
            </a:r>
            <a:endParaRPr lang="en-SG" sz="1200" b="1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445F468-C201-9E8D-88C6-078083CD255E}"/>
              </a:ext>
            </a:extLst>
          </p:cNvPr>
          <p:cNvSpPr txBox="1"/>
          <p:nvPr/>
        </p:nvSpPr>
        <p:spPr>
          <a:xfrm>
            <a:off x="1862211" y="3184875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CR01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8CC9B12-9CDA-E03F-8CE1-CBBE3B0ADBE0}"/>
              </a:ext>
            </a:extLst>
          </p:cNvPr>
          <p:cNvSpPr txBox="1"/>
          <p:nvPr/>
        </p:nvSpPr>
        <p:spPr>
          <a:xfrm>
            <a:off x="3394639" y="320078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CR02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7C89A-4CA2-F1C9-53D3-C95EC6C829A0}"/>
              </a:ext>
            </a:extLst>
          </p:cNvPr>
          <p:cNvSpPr txBox="1"/>
          <p:nvPr/>
        </p:nvSpPr>
        <p:spPr>
          <a:xfrm>
            <a:off x="5452868" y="3180882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CR03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82B385A-F604-6448-7B02-A6A1B74D547E}"/>
              </a:ext>
            </a:extLst>
          </p:cNvPr>
          <p:cNvSpPr txBox="1"/>
          <p:nvPr/>
        </p:nvSpPr>
        <p:spPr>
          <a:xfrm>
            <a:off x="7336613" y="3179773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CR04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5FA00B-6F77-28AE-4D0B-77F3E649B2E3}"/>
              </a:ext>
            </a:extLst>
          </p:cNvPr>
          <p:cNvSpPr txBox="1"/>
          <p:nvPr/>
        </p:nvSpPr>
        <p:spPr>
          <a:xfrm>
            <a:off x="9055527" y="3148080"/>
            <a:ext cx="6349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1"/>
                </a:solidFill>
              </a:rPr>
              <a:t>CR05</a:t>
            </a:r>
            <a:endParaRPr lang="en-SG" sz="1100" b="1" dirty="0">
              <a:solidFill>
                <a:schemeClr val="accent1"/>
              </a:solidFill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9A681D4-2938-BE62-D149-E3EA1CEFC780}"/>
              </a:ext>
            </a:extLst>
          </p:cNvPr>
          <p:cNvCxnSpPr>
            <a:cxnSpLocks/>
            <a:stCxn id="61" idx="3"/>
          </p:cNvCxnSpPr>
          <p:nvPr/>
        </p:nvCxnSpPr>
        <p:spPr>
          <a:xfrm>
            <a:off x="5288167" y="1967714"/>
            <a:ext cx="1476763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C0C14997-D763-0294-032C-7183761868EB}"/>
              </a:ext>
            </a:extLst>
          </p:cNvPr>
          <p:cNvSpPr txBox="1"/>
          <p:nvPr/>
        </p:nvSpPr>
        <p:spPr>
          <a:xfrm>
            <a:off x="1357222" y="4988634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Antenna Next to the Track </a:t>
            </a:r>
            <a:endParaRPr lang="en-SG" sz="1200" b="1" dirty="0"/>
          </a:p>
        </p:txBody>
      </p:sp>
      <p:pic>
        <p:nvPicPr>
          <p:cNvPr id="92" name="Picture 91" descr="Radio tower - Free communications icons">
            <a:extLst>
              <a:ext uri="{FF2B5EF4-FFF2-40B4-BE49-F238E27FC236}">
                <a16:creationId xmlns:a16="http://schemas.microsoft.com/office/drawing/2014/main" id="{1786E942-08AC-37EB-427A-613319D47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601" y="4819262"/>
            <a:ext cx="656160" cy="656160"/>
          </a:xfrm>
          <a:prstGeom prst="rect">
            <a:avLst/>
          </a:prstGeom>
        </p:spPr>
      </p:pic>
      <p:pic>
        <p:nvPicPr>
          <p:cNvPr id="94" name="Graphic 93" descr="Wi-Fi with solid fill">
            <a:extLst>
              <a:ext uri="{FF2B5EF4-FFF2-40B4-BE49-F238E27FC236}">
                <a16:creationId xmlns:a16="http://schemas.microsoft.com/office/drawing/2014/main" id="{FB2040A3-509B-B7C7-50BC-01D453E4A0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2689" y="3803810"/>
            <a:ext cx="481011" cy="481011"/>
          </a:xfrm>
          <a:prstGeom prst="rect">
            <a:avLst/>
          </a:prstGeom>
        </p:spPr>
      </p:pic>
      <p:sp>
        <p:nvSpPr>
          <p:cNvPr id="95" name="TextBox 94">
            <a:extLst>
              <a:ext uri="{FF2B5EF4-FFF2-40B4-BE49-F238E27FC236}">
                <a16:creationId xmlns:a16="http://schemas.microsoft.com/office/drawing/2014/main" id="{C739654B-1AB7-A576-6D01-506C81798FE5}"/>
              </a:ext>
            </a:extLst>
          </p:cNvPr>
          <p:cNvSpPr txBox="1"/>
          <p:nvPr/>
        </p:nvSpPr>
        <p:spPr>
          <a:xfrm>
            <a:off x="3988383" y="3074941"/>
            <a:ext cx="10428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Train Radio Antenna </a:t>
            </a:r>
            <a:endParaRPr lang="en-SG" sz="1200" b="1" dirty="0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1D45EAB-F3CA-5020-3F9F-ADF7621B4BEC}"/>
              </a:ext>
            </a:extLst>
          </p:cNvPr>
          <p:cNvCxnSpPr>
            <a:cxnSpLocks/>
          </p:cNvCxnSpPr>
          <p:nvPr/>
        </p:nvCxnSpPr>
        <p:spPr>
          <a:xfrm>
            <a:off x="4409463" y="4172286"/>
            <a:ext cx="558009" cy="72859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D2D3D0B2-235C-99D6-F68C-DB5D95DF26DE}"/>
              </a:ext>
            </a:extLst>
          </p:cNvPr>
          <p:cNvCxnSpPr>
            <a:stCxn id="92" idx="2"/>
          </p:cNvCxnSpPr>
          <p:nvPr/>
        </p:nvCxnSpPr>
        <p:spPr>
          <a:xfrm>
            <a:off x="1215681" y="5475422"/>
            <a:ext cx="0" cy="15834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EBDC9A9E-9ED1-A227-AEA3-81757E524EF6}"/>
              </a:ext>
            </a:extLst>
          </p:cNvPr>
          <p:cNvSpPr txBox="1"/>
          <p:nvPr/>
        </p:nvSpPr>
        <p:spPr>
          <a:xfrm>
            <a:off x="4595623" y="4001245"/>
            <a:ext cx="180331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Train Broadcast  Operation Information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0443355-EEA7-CDA3-B207-798C83E9AFDA}"/>
              </a:ext>
            </a:extLst>
          </p:cNvPr>
          <p:cNvCxnSpPr>
            <a:cxnSpLocks/>
          </p:cNvCxnSpPr>
          <p:nvPr/>
        </p:nvCxnSpPr>
        <p:spPr>
          <a:xfrm>
            <a:off x="4387818" y="3518447"/>
            <a:ext cx="2495" cy="349402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88FFDFFF-9187-67EB-0F72-0B677270B304}"/>
              </a:ext>
            </a:extLst>
          </p:cNvPr>
          <p:cNvCxnSpPr>
            <a:cxnSpLocks/>
          </p:cNvCxnSpPr>
          <p:nvPr/>
        </p:nvCxnSpPr>
        <p:spPr>
          <a:xfrm flipH="1">
            <a:off x="1421343" y="4044315"/>
            <a:ext cx="2733637" cy="86871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36BE5CC0-C7A0-0659-12A9-4B644BC18188}"/>
              </a:ext>
            </a:extLst>
          </p:cNvPr>
          <p:cNvSpPr txBox="1"/>
          <p:nvPr/>
        </p:nvSpPr>
        <p:spPr>
          <a:xfrm>
            <a:off x="675970" y="5228331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T01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BF0E6779-6B58-E987-2DD9-B785D19F4D25}"/>
              </a:ext>
            </a:extLst>
          </p:cNvPr>
          <p:cNvSpPr txBox="1"/>
          <p:nvPr/>
        </p:nvSpPr>
        <p:spPr>
          <a:xfrm>
            <a:off x="4595623" y="5215531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T02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7718BDB5-8311-02EA-B859-3898985E2773}"/>
              </a:ext>
            </a:extLst>
          </p:cNvPr>
          <p:cNvSpPr txBox="1"/>
          <p:nvPr/>
        </p:nvSpPr>
        <p:spPr>
          <a:xfrm>
            <a:off x="8330678" y="5243795"/>
            <a:ext cx="46916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</a:rPr>
              <a:t>T03</a:t>
            </a:r>
            <a:endParaRPr lang="en-SG" sz="11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3436436-FBDA-2319-F8B0-0ACBCC551FE3}"/>
              </a:ext>
            </a:extLst>
          </p:cNvPr>
          <p:cNvCxnSpPr>
            <a:cxnSpLocks/>
          </p:cNvCxnSpPr>
          <p:nvPr/>
        </p:nvCxnSpPr>
        <p:spPr>
          <a:xfrm>
            <a:off x="1206537" y="5637326"/>
            <a:ext cx="8166464" cy="502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AEAF114-1244-9ABB-A459-03A8F03060B3}"/>
              </a:ext>
            </a:extLst>
          </p:cNvPr>
          <p:cNvCxnSpPr>
            <a:cxnSpLocks/>
          </p:cNvCxnSpPr>
          <p:nvPr/>
        </p:nvCxnSpPr>
        <p:spPr>
          <a:xfrm>
            <a:off x="5171803" y="5489941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20C04EE-9A70-30BB-5144-647C980474ED}"/>
              </a:ext>
            </a:extLst>
          </p:cNvPr>
          <p:cNvCxnSpPr>
            <a:cxnSpLocks/>
          </p:cNvCxnSpPr>
          <p:nvPr/>
        </p:nvCxnSpPr>
        <p:spPr>
          <a:xfrm>
            <a:off x="8881938" y="5505405"/>
            <a:ext cx="0" cy="1789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ED097308-154C-6153-07C6-6D8A29F59E7F}"/>
              </a:ext>
            </a:extLst>
          </p:cNvPr>
          <p:cNvSpPr txBox="1"/>
          <p:nvPr/>
        </p:nvSpPr>
        <p:spPr>
          <a:xfrm>
            <a:off x="5452868" y="5328058"/>
            <a:ext cx="295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Train Operation Information Data Bus </a:t>
            </a:r>
            <a:endParaRPr lang="en-SG" sz="1200" b="1" dirty="0"/>
          </a:p>
        </p:txBody>
      </p:sp>
      <p:pic>
        <p:nvPicPr>
          <p:cNvPr id="123" name="Picture 122">
            <a:extLst>
              <a:ext uri="{FF2B5EF4-FFF2-40B4-BE49-F238E27FC236}">
                <a16:creationId xmlns:a16="http://schemas.microsoft.com/office/drawing/2014/main" id="{158AF627-645C-8E20-BB13-50067C0C952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3000" y="5274485"/>
            <a:ext cx="720873" cy="512621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E11606B1-80AA-FBF4-57C5-43DCAD2E4D42}"/>
              </a:ext>
            </a:extLst>
          </p:cNvPr>
          <p:cNvSpPr txBox="1"/>
          <p:nvPr/>
        </p:nvSpPr>
        <p:spPr>
          <a:xfrm>
            <a:off x="10141770" y="5294066"/>
            <a:ext cx="148428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Radio Link Data Management RTU</a:t>
            </a:r>
            <a:endParaRPr lang="en-SG" sz="1200" b="1" dirty="0"/>
          </a:p>
        </p:txBody>
      </p:sp>
      <p:cxnSp>
        <p:nvCxnSpPr>
          <p:cNvPr id="125" name="Straight Connector 124">
            <a:extLst>
              <a:ext uri="{FF2B5EF4-FFF2-40B4-BE49-F238E27FC236}">
                <a16:creationId xmlns:a16="http://schemas.microsoft.com/office/drawing/2014/main" id="{11195AE1-36E7-5DF2-3B7E-48939C07FE0D}"/>
              </a:ext>
            </a:extLst>
          </p:cNvPr>
          <p:cNvCxnSpPr>
            <a:cxnSpLocks/>
            <a:endCxn id="123" idx="0"/>
          </p:cNvCxnSpPr>
          <p:nvPr/>
        </p:nvCxnSpPr>
        <p:spPr>
          <a:xfrm>
            <a:off x="9733437" y="2259039"/>
            <a:ext cx="0" cy="301544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3D054AD-E80A-BBEF-2A31-9D74B5927E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24985" y="571134"/>
            <a:ext cx="2983277" cy="1603511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4" name="TextBox 133">
            <a:extLst>
              <a:ext uri="{FF2B5EF4-FFF2-40B4-BE49-F238E27FC236}">
                <a16:creationId xmlns:a16="http://schemas.microsoft.com/office/drawing/2014/main" id="{5330239E-820E-B1F0-2B85-B6DFCA178278}"/>
              </a:ext>
            </a:extLst>
          </p:cNvPr>
          <p:cNvSpPr txBox="1"/>
          <p:nvPr/>
        </p:nvSpPr>
        <p:spPr>
          <a:xfrm>
            <a:off x="5321391" y="1609787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Modbus-TCP Bus </a:t>
            </a:r>
            <a:endParaRPr lang="en-SG" sz="1200" b="1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81F12F8-7C03-2DCA-16C9-A63BF27BD059}"/>
              </a:ext>
            </a:extLst>
          </p:cNvPr>
          <p:cNvSpPr txBox="1"/>
          <p:nvPr/>
        </p:nvSpPr>
        <p:spPr>
          <a:xfrm>
            <a:off x="9909048" y="2574291"/>
            <a:ext cx="13048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Siemens</a:t>
            </a:r>
          </a:p>
          <a:p>
            <a:r>
              <a:rPr lang="en-US" sz="1200" b="1" dirty="0">
                <a:solidFill>
                  <a:schemeClr val="accent6">
                    <a:lumMod val="75000"/>
                  </a:schemeClr>
                </a:solidFill>
              </a:rPr>
              <a:t>S7Comm Bus </a:t>
            </a:r>
            <a:endParaRPr lang="en-SG" sz="12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37" name="Picture 136">
            <a:extLst>
              <a:ext uri="{FF2B5EF4-FFF2-40B4-BE49-F238E27FC236}">
                <a16:creationId xmlns:a16="http://schemas.microsoft.com/office/drawing/2014/main" id="{D1DE2E23-D386-5E54-BC51-DAAD23A384C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4930" y="610039"/>
            <a:ext cx="1784873" cy="1761389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39" name="TextBox 138">
            <a:extLst>
              <a:ext uri="{FF2B5EF4-FFF2-40B4-BE49-F238E27FC236}">
                <a16:creationId xmlns:a16="http://schemas.microsoft.com/office/drawing/2014/main" id="{B1CFED4C-18FC-B3AF-69A4-4B7A4D3D4192}"/>
              </a:ext>
            </a:extLst>
          </p:cNvPr>
          <p:cNvSpPr txBox="1"/>
          <p:nvPr/>
        </p:nvSpPr>
        <p:spPr>
          <a:xfrm>
            <a:off x="6705281" y="323389"/>
            <a:ext cx="14842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OCC</a:t>
            </a:r>
            <a:endParaRPr lang="en-SG" sz="120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89B3853F-A320-3D0F-F779-8B4D8CCE37B5}"/>
              </a:ext>
            </a:extLst>
          </p:cNvPr>
          <p:cNvCxnSpPr>
            <a:cxnSpLocks/>
          </p:cNvCxnSpPr>
          <p:nvPr/>
        </p:nvCxnSpPr>
        <p:spPr>
          <a:xfrm>
            <a:off x="8565262" y="2259039"/>
            <a:ext cx="1178057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0609AED1-9B38-436B-8B5F-520ECCDA4F73}"/>
              </a:ext>
            </a:extLst>
          </p:cNvPr>
          <p:cNvSpPr/>
          <p:nvPr/>
        </p:nvSpPr>
        <p:spPr>
          <a:xfrm>
            <a:off x="7006060" y="1280363"/>
            <a:ext cx="493462" cy="64806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noFill/>
            </a:endParaRPr>
          </a:p>
        </p:txBody>
      </p: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92266C46-2393-EB9F-0968-662B11475617}"/>
              </a:ext>
            </a:extLst>
          </p:cNvPr>
          <p:cNvCxnSpPr>
            <a:cxnSpLocks/>
            <a:stCxn id="151" idx="0"/>
          </p:cNvCxnSpPr>
          <p:nvPr/>
        </p:nvCxnSpPr>
        <p:spPr>
          <a:xfrm rot="5400000" flipH="1" flipV="1">
            <a:off x="7960257" y="515635"/>
            <a:ext cx="57262" cy="1472194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F9E6577A-E563-39C3-FA3F-9B48860BF2B5}"/>
              </a:ext>
            </a:extLst>
          </p:cNvPr>
          <p:cNvSpPr txBox="1"/>
          <p:nvPr/>
        </p:nvSpPr>
        <p:spPr>
          <a:xfrm>
            <a:off x="8650831" y="283460"/>
            <a:ext cx="19123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OCC Train Monitor HMI</a:t>
            </a:r>
            <a:endParaRPr lang="en-SG" sz="1200" b="1" dirty="0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B91BF68A-8968-42D9-ABAE-AFE08AE3EA04}"/>
              </a:ext>
            </a:extLst>
          </p:cNvPr>
          <p:cNvSpPr txBox="1"/>
          <p:nvPr/>
        </p:nvSpPr>
        <p:spPr>
          <a:xfrm>
            <a:off x="701631" y="370393"/>
            <a:ext cx="56973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Radio Communication System and Remote Power Control in  Land-Based Railway Cyber Twin platform</a:t>
            </a:r>
            <a:endParaRPr lang="en-SG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0D3AE958-3FE4-F224-F151-F376256DDCB8}"/>
              </a:ext>
            </a:extLst>
          </p:cNvPr>
          <p:cNvCxnSpPr>
            <a:cxnSpLocks/>
          </p:cNvCxnSpPr>
          <p:nvPr/>
        </p:nvCxnSpPr>
        <p:spPr>
          <a:xfrm>
            <a:off x="5284569" y="5554595"/>
            <a:ext cx="0" cy="232511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5F6883EF-1BA5-34CC-6FCE-C2C63051A1AF}"/>
              </a:ext>
            </a:extLst>
          </p:cNvPr>
          <p:cNvCxnSpPr>
            <a:cxnSpLocks/>
          </p:cNvCxnSpPr>
          <p:nvPr/>
        </p:nvCxnSpPr>
        <p:spPr>
          <a:xfrm>
            <a:off x="5306455" y="5773768"/>
            <a:ext cx="401864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F7FFCD84-831D-0261-AB2D-AD7BCD5F28B7}"/>
              </a:ext>
            </a:extLst>
          </p:cNvPr>
          <p:cNvCxnSpPr>
            <a:cxnSpLocks/>
          </p:cNvCxnSpPr>
          <p:nvPr/>
        </p:nvCxnSpPr>
        <p:spPr>
          <a:xfrm flipV="1">
            <a:off x="9859839" y="2251343"/>
            <a:ext cx="24969" cy="294338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1D5C6C1-6E53-7D0C-A284-E831D480337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31674" y="5945428"/>
            <a:ext cx="469168" cy="52016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FC46A39-B659-954F-B40E-6ABC1D46E7C0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2266258" y="4284821"/>
            <a:ext cx="1862141" cy="1660607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4274465-36C1-D3EE-89AE-38EE571DFB1A}"/>
              </a:ext>
            </a:extLst>
          </p:cNvPr>
          <p:cNvSpPr txBox="1"/>
          <p:nvPr/>
        </p:nvSpPr>
        <p:spPr>
          <a:xfrm>
            <a:off x="3328856" y="4948747"/>
            <a:ext cx="1493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Eavesdrop Radio Signal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C1F1ED5-6A56-BC7E-D938-E092F5E6BCCA}"/>
              </a:ext>
            </a:extLst>
          </p:cNvPr>
          <p:cNvSpPr/>
          <p:nvPr/>
        </p:nvSpPr>
        <p:spPr>
          <a:xfrm>
            <a:off x="3135973" y="500891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B086187-885B-05AB-6759-39A833B2CAC8}"/>
              </a:ext>
            </a:extLst>
          </p:cNvPr>
          <p:cNvSpPr/>
          <p:nvPr/>
        </p:nvSpPr>
        <p:spPr>
          <a:xfrm>
            <a:off x="2814577" y="617459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3C80AC-86C2-4919-360A-7C5347EEF750}"/>
              </a:ext>
            </a:extLst>
          </p:cNvPr>
          <p:cNvSpPr txBox="1"/>
          <p:nvPr/>
        </p:nvSpPr>
        <p:spPr>
          <a:xfrm>
            <a:off x="2655233" y="5651374"/>
            <a:ext cx="12538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Decode Parameters</a:t>
            </a:r>
            <a:endParaRPr lang="en-SG" sz="1400" b="1" dirty="0">
              <a:solidFill>
                <a:srgbClr val="C00000"/>
              </a:solidFill>
            </a:endParaRPr>
          </a:p>
        </p:txBody>
      </p:sp>
      <p:pic>
        <p:nvPicPr>
          <p:cNvPr id="40" name="Graphic 39" descr="Bar chart with solid fill">
            <a:extLst>
              <a:ext uri="{FF2B5EF4-FFF2-40B4-BE49-F238E27FC236}">
                <a16:creationId xmlns:a16="http://schemas.microsoft.com/office/drawing/2014/main" id="{4B4F9BAC-ADB1-5272-C7C7-FF51535E05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869703" y="5927250"/>
            <a:ext cx="563517" cy="563517"/>
          </a:xfrm>
          <a:prstGeom prst="rect">
            <a:avLst/>
          </a:prstGeom>
        </p:spPr>
      </p:pic>
      <p:sp>
        <p:nvSpPr>
          <p:cNvPr id="43" name="Oval 42">
            <a:extLst>
              <a:ext uri="{FF2B5EF4-FFF2-40B4-BE49-F238E27FC236}">
                <a16:creationId xmlns:a16="http://schemas.microsoft.com/office/drawing/2014/main" id="{1736B342-517E-9E6E-9DF4-D5DF006CB722}"/>
              </a:ext>
            </a:extLst>
          </p:cNvPr>
          <p:cNvSpPr/>
          <p:nvPr/>
        </p:nvSpPr>
        <p:spPr>
          <a:xfrm>
            <a:off x="4072805" y="627664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pic>
        <p:nvPicPr>
          <p:cNvPr id="47" name="Graphic 46" descr="Beetle with solid fill">
            <a:extLst>
              <a:ext uri="{FF2B5EF4-FFF2-40B4-BE49-F238E27FC236}">
                <a16:creationId xmlns:a16="http://schemas.microsoft.com/office/drawing/2014/main" id="{D40BCC8F-C749-E354-C021-D377CF3329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6812" y="5974950"/>
            <a:ext cx="473776" cy="47377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92AFFEA-FD50-1DA4-2C76-C906FBA744B6}"/>
              </a:ext>
            </a:extLst>
          </p:cNvPr>
          <p:cNvSpPr txBox="1"/>
          <p:nvPr/>
        </p:nvSpPr>
        <p:spPr>
          <a:xfrm>
            <a:off x="4251573" y="6370512"/>
            <a:ext cx="21473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Create False Train Data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EDCA2234-2FE7-C6B7-2155-0EFF2E832A20}"/>
              </a:ext>
            </a:extLst>
          </p:cNvPr>
          <p:cNvCxnSpPr>
            <a:cxnSpLocks/>
          </p:cNvCxnSpPr>
          <p:nvPr/>
        </p:nvCxnSpPr>
        <p:spPr>
          <a:xfrm flipV="1">
            <a:off x="4683948" y="5755731"/>
            <a:ext cx="411215" cy="456107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5A009B1-C482-A070-4620-8A310AD03161}"/>
              </a:ext>
            </a:extLst>
          </p:cNvPr>
          <p:cNvSpPr txBox="1"/>
          <p:nvPr/>
        </p:nvSpPr>
        <p:spPr>
          <a:xfrm>
            <a:off x="6592726" y="5945174"/>
            <a:ext cx="24219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Inject Spoofing Signal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51F72F7-B252-8197-FA2E-C468B764D036}"/>
              </a:ext>
            </a:extLst>
          </p:cNvPr>
          <p:cNvSpPr/>
          <p:nvPr/>
        </p:nvSpPr>
        <p:spPr>
          <a:xfrm>
            <a:off x="5018827" y="55145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6E90FCE-0E41-0218-E95F-D18C7BE687FA}"/>
              </a:ext>
            </a:extLst>
          </p:cNvPr>
          <p:cNvCxnSpPr>
            <a:cxnSpLocks/>
            <a:endCxn id="123" idx="2"/>
          </p:cNvCxnSpPr>
          <p:nvPr/>
        </p:nvCxnSpPr>
        <p:spPr>
          <a:xfrm flipV="1">
            <a:off x="5171803" y="5787106"/>
            <a:ext cx="4561634" cy="140115"/>
          </a:xfrm>
          <a:prstGeom prst="bentConnector2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Oval 88">
            <a:extLst>
              <a:ext uri="{FF2B5EF4-FFF2-40B4-BE49-F238E27FC236}">
                <a16:creationId xmlns:a16="http://schemas.microsoft.com/office/drawing/2014/main" id="{D2121870-C35E-43D9-6EF2-459376C25A0D}"/>
              </a:ext>
            </a:extLst>
          </p:cNvPr>
          <p:cNvSpPr/>
          <p:nvPr/>
        </p:nvSpPr>
        <p:spPr>
          <a:xfrm>
            <a:off x="6329337" y="5836281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35FB26-8D99-C1C8-C91B-0D0F99F7BFE9}"/>
              </a:ext>
            </a:extLst>
          </p:cNvPr>
          <p:cNvCxnSpPr>
            <a:cxnSpLocks/>
          </p:cNvCxnSpPr>
          <p:nvPr/>
        </p:nvCxnSpPr>
        <p:spPr>
          <a:xfrm flipV="1">
            <a:off x="9992152" y="2259039"/>
            <a:ext cx="22768" cy="295649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8C3E060E-300B-8BFF-EABD-28C99426D48A}"/>
              </a:ext>
            </a:extLst>
          </p:cNvPr>
          <p:cNvSpPr/>
          <p:nvPr/>
        </p:nvSpPr>
        <p:spPr>
          <a:xfrm>
            <a:off x="9943128" y="414930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A67B32F-C32C-980C-312F-99F7435A0634}"/>
              </a:ext>
            </a:extLst>
          </p:cNvPr>
          <p:cNvSpPr txBox="1"/>
          <p:nvPr/>
        </p:nvSpPr>
        <p:spPr>
          <a:xfrm>
            <a:off x="10194400" y="3951500"/>
            <a:ext cx="186411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False Data Transfer to OCC HMI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53C8F3C0-7BDD-3EC3-7EA3-7736C0BE6495}"/>
              </a:ext>
            </a:extLst>
          </p:cNvPr>
          <p:cNvSpPr/>
          <p:nvPr/>
        </p:nvSpPr>
        <p:spPr>
          <a:xfrm>
            <a:off x="8635179" y="75613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7D8E588-EB20-485B-C535-2A8DC3D342AA}"/>
              </a:ext>
            </a:extLst>
          </p:cNvPr>
          <p:cNvSpPr txBox="1"/>
          <p:nvPr/>
        </p:nvSpPr>
        <p:spPr>
          <a:xfrm>
            <a:off x="6055144" y="618970"/>
            <a:ext cx="28315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Trigger Alarm Mechanisms 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95E3286-6A58-BFDF-EE6A-7CFA7B1FA3ED}"/>
              </a:ext>
            </a:extLst>
          </p:cNvPr>
          <p:cNvCxnSpPr>
            <a:cxnSpLocks/>
          </p:cNvCxnSpPr>
          <p:nvPr/>
        </p:nvCxnSpPr>
        <p:spPr>
          <a:xfrm flipH="1" flipV="1">
            <a:off x="5288167" y="2143923"/>
            <a:ext cx="3372498" cy="10819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58FB6387-B1E1-B3F7-22B8-C6F13F8A7404}"/>
              </a:ext>
            </a:extLst>
          </p:cNvPr>
          <p:cNvSpPr/>
          <p:nvPr/>
        </p:nvSpPr>
        <p:spPr>
          <a:xfrm>
            <a:off x="5388750" y="20493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4C58BD5-7EA3-9F39-D45F-E683565E2F3B}"/>
              </a:ext>
            </a:extLst>
          </p:cNvPr>
          <p:cNvSpPr txBox="1"/>
          <p:nvPr/>
        </p:nvSpPr>
        <p:spPr>
          <a:xfrm>
            <a:off x="5502416" y="2116794"/>
            <a:ext cx="31809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Protection Mechanism Triggered send action control command to PLC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A7AFC84-81E5-7A4D-367B-FFA00CDC9483}"/>
              </a:ext>
            </a:extLst>
          </p:cNvPr>
          <p:cNvCxnSpPr>
            <a:cxnSpLocks/>
          </p:cNvCxnSpPr>
          <p:nvPr/>
        </p:nvCxnSpPr>
        <p:spPr>
          <a:xfrm flipH="1">
            <a:off x="5177583" y="2338989"/>
            <a:ext cx="7506" cy="62099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Oval 125">
            <a:extLst>
              <a:ext uri="{FF2B5EF4-FFF2-40B4-BE49-F238E27FC236}">
                <a16:creationId xmlns:a16="http://schemas.microsoft.com/office/drawing/2014/main" id="{080A5C55-A936-B65E-FD8C-43CAA8C10165}"/>
              </a:ext>
            </a:extLst>
          </p:cNvPr>
          <p:cNvSpPr/>
          <p:nvPr/>
        </p:nvSpPr>
        <p:spPr>
          <a:xfrm>
            <a:off x="5069165" y="253503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595781-1094-1433-9496-AB7838990F4E}"/>
              </a:ext>
            </a:extLst>
          </p:cNvPr>
          <p:cNvSpPr txBox="1"/>
          <p:nvPr/>
        </p:nvSpPr>
        <p:spPr>
          <a:xfrm>
            <a:off x="2312587" y="1688208"/>
            <a:ext cx="24418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Emergency Stop Activated Power Supply cutoff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71978526-80E0-4C05-D989-12ABDB83D618}"/>
              </a:ext>
            </a:extLst>
          </p:cNvPr>
          <p:cNvCxnSpPr>
            <a:cxnSpLocks/>
            <a:endCxn id="126" idx="2"/>
          </p:cNvCxnSpPr>
          <p:nvPr/>
        </p:nvCxnSpPr>
        <p:spPr>
          <a:xfrm>
            <a:off x="4118603" y="2081849"/>
            <a:ext cx="950562" cy="560245"/>
          </a:xfrm>
          <a:prstGeom prst="straightConnector1">
            <a:avLst/>
          </a:prstGeom>
          <a:ln w="12700"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1B32E272-CCE4-1578-A30C-D7391B751F30}"/>
              </a:ext>
            </a:extLst>
          </p:cNvPr>
          <p:cNvCxnSpPr>
            <a:cxnSpLocks/>
          </p:cNvCxnSpPr>
          <p:nvPr/>
        </p:nvCxnSpPr>
        <p:spPr>
          <a:xfrm flipH="1">
            <a:off x="3730301" y="3167315"/>
            <a:ext cx="1378311" cy="903432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357EA0B2-E548-A135-AFB9-046E91433476}"/>
              </a:ext>
            </a:extLst>
          </p:cNvPr>
          <p:cNvCxnSpPr>
            <a:cxnSpLocks/>
          </p:cNvCxnSpPr>
          <p:nvPr/>
        </p:nvCxnSpPr>
        <p:spPr>
          <a:xfrm>
            <a:off x="3877573" y="4018605"/>
            <a:ext cx="2588460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>
            <a:extLst>
              <a:ext uri="{FF2B5EF4-FFF2-40B4-BE49-F238E27FC236}">
                <a16:creationId xmlns:a16="http://schemas.microsoft.com/office/drawing/2014/main" id="{A8FC1C13-941D-0641-2368-AAEC042C4519}"/>
              </a:ext>
            </a:extLst>
          </p:cNvPr>
          <p:cNvSpPr/>
          <p:nvPr/>
        </p:nvSpPr>
        <p:spPr>
          <a:xfrm>
            <a:off x="3532799" y="385999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pic>
        <p:nvPicPr>
          <p:cNvPr id="145" name="Picture 144">
            <a:extLst>
              <a:ext uri="{FF2B5EF4-FFF2-40B4-BE49-F238E27FC236}">
                <a16:creationId xmlns:a16="http://schemas.microsoft.com/office/drawing/2014/main" id="{4FE978DA-C9BD-997E-2CEA-475500153C2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73910" y="3946136"/>
            <a:ext cx="2166856" cy="95474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47" name="Oval 146">
            <a:extLst>
              <a:ext uri="{FF2B5EF4-FFF2-40B4-BE49-F238E27FC236}">
                <a16:creationId xmlns:a16="http://schemas.microsoft.com/office/drawing/2014/main" id="{0ADDF5F8-5FF4-8211-5C9F-C61AB7451CE1}"/>
              </a:ext>
            </a:extLst>
          </p:cNvPr>
          <p:cNvSpPr/>
          <p:nvPr/>
        </p:nvSpPr>
        <p:spPr>
          <a:xfrm>
            <a:off x="6384804" y="479900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FA951CF-3E85-17D8-5508-AF84222F8880}"/>
              </a:ext>
            </a:extLst>
          </p:cNvPr>
          <p:cNvSpPr txBox="1"/>
          <p:nvPr/>
        </p:nvSpPr>
        <p:spPr>
          <a:xfrm>
            <a:off x="6555332" y="4926767"/>
            <a:ext cx="183910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Train Lose Power </a:t>
            </a:r>
            <a:endParaRPr lang="en-SG" sz="1400" b="1" dirty="0">
              <a:solidFill>
                <a:srgbClr val="C00000"/>
              </a:solidFill>
            </a:endParaRPr>
          </a:p>
        </p:txBody>
      </p:sp>
      <p:sp>
        <p:nvSpPr>
          <p:cNvPr id="149" name="Multiplication Sign 148">
            <a:extLst>
              <a:ext uri="{FF2B5EF4-FFF2-40B4-BE49-F238E27FC236}">
                <a16:creationId xmlns:a16="http://schemas.microsoft.com/office/drawing/2014/main" id="{DBD4F0A5-BD43-CD3A-2619-1D84AF1F83F1}"/>
              </a:ext>
            </a:extLst>
          </p:cNvPr>
          <p:cNvSpPr/>
          <p:nvPr/>
        </p:nvSpPr>
        <p:spPr>
          <a:xfrm>
            <a:off x="4982070" y="5106970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0" name="Multiplication Sign 149">
            <a:extLst>
              <a:ext uri="{FF2B5EF4-FFF2-40B4-BE49-F238E27FC236}">
                <a16:creationId xmlns:a16="http://schemas.microsoft.com/office/drawing/2014/main" id="{2CB6BE59-51B6-87CB-130C-FE2AA55468B1}"/>
              </a:ext>
            </a:extLst>
          </p:cNvPr>
          <p:cNvSpPr/>
          <p:nvPr/>
        </p:nvSpPr>
        <p:spPr>
          <a:xfrm>
            <a:off x="9599735" y="5420781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2" name="Multiplication Sign 151">
            <a:extLst>
              <a:ext uri="{FF2B5EF4-FFF2-40B4-BE49-F238E27FC236}">
                <a16:creationId xmlns:a16="http://schemas.microsoft.com/office/drawing/2014/main" id="{CFF0102B-E326-C275-ADE8-5BCDF79A11AD}"/>
              </a:ext>
            </a:extLst>
          </p:cNvPr>
          <p:cNvSpPr/>
          <p:nvPr/>
        </p:nvSpPr>
        <p:spPr>
          <a:xfrm>
            <a:off x="9851588" y="1803715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3" name="Multiplication Sign 152">
            <a:extLst>
              <a:ext uri="{FF2B5EF4-FFF2-40B4-BE49-F238E27FC236}">
                <a16:creationId xmlns:a16="http://schemas.microsoft.com/office/drawing/2014/main" id="{9D54E8A0-87EE-E12E-6384-1EAEDA5609B9}"/>
              </a:ext>
            </a:extLst>
          </p:cNvPr>
          <p:cNvSpPr/>
          <p:nvPr/>
        </p:nvSpPr>
        <p:spPr>
          <a:xfrm>
            <a:off x="4971436" y="2012364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4" name="Multiplication Sign 153">
            <a:extLst>
              <a:ext uri="{FF2B5EF4-FFF2-40B4-BE49-F238E27FC236}">
                <a16:creationId xmlns:a16="http://schemas.microsoft.com/office/drawing/2014/main" id="{42DE04FE-FAD5-00A4-30D3-BADBAA3C6671}"/>
              </a:ext>
            </a:extLst>
          </p:cNvPr>
          <p:cNvSpPr/>
          <p:nvPr/>
        </p:nvSpPr>
        <p:spPr>
          <a:xfrm>
            <a:off x="3777044" y="3926540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6" name="Multiplication Sign 155">
            <a:extLst>
              <a:ext uri="{FF2B5EF4-FFF2-40B4-BE49-F238E27FC236}">
                <a16:creationId xmlns:a16="http://schemas.microsoft.com/office/drawing/2014/main" id="{57B35599-52A5-05D0-2DA6-FC4076E29306}"/>
              </a:ext>
            </a:extLst>
          </p:cNvPr>
          <p:cNvSpPr/>
          <p:nvPr/>
        </p:nvSpPr>
        <p:spPr>
          <a:xfrm>
            <a:off x="8766492" y="6057553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33F32ED-6891-250E-847F-B0531E97211A}"/>
              </a:ext>
            </a:extLst>
          </p:cNvPr>
          <p:cNvSpPr txBox="1"/>
          <p:nvPr/>
        </p:nvSpPr>
        <p:spPr>
          <a:xfrm>
            <a:off x="9055527" y="5998780"/>
            <a:ext cx="21473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Impacted Components in Cyber Twin</a:t>
            </a:r>
            <a:endParaRPr lang="en-SG" sz="1400" b="1" dirty="0">
              <a:solidFill>
                <a:srgbClr val="C00000"/>
              </a:solidFill>
            </a:endParaRP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7904BF97-D9E3-1CD3-7978-C0DDCE934BCF}"/>
              </a:ext>
            </a:extLst>
          </p:cNvPr>
          <p:cNvCxnSpPr>
            <a:cxnSpLocks/>
          </p:cNvCxnSpPr>
          <p:nvPr/>
        </p:nvCxnSpPr>
        <p:spPr>
          <a:xfrm>
            <a:off x="6460111" y="4044315"/>
            <a:ext cx="792680" cy="231336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Multiplication Sign 164">
            <a:extLst>
              <a:ext uri="{FF2B5EF4-FFF2-40B4-BE49-F238E27FC236}">
                <a16:creationId xmlns:a16="http://schemas.microsoft.com/office/drawing/2014/main" id="{81911BAB-1009-6CB3-0570-D8C7BF6EAB5E}"/>
              </a:ext>
            </a:extLst>
          </p:cNvPr>
          <p:cNvSpPr/>
          <p:nvPr/>
        </p:nvSpPr>
        <p:spPr>
          <a:xfrm>
            <a:off x="5157107" y="3531718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56431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3DE9A89-7913-B708-6A0F-39993AC4D2B4}"/>
              </a:ext>
            </a:extLst>
          </p:cNvPr>
          <p:cNvSpPr/>
          <p:nvPr/>
        </p:nvSpPr>
        <p:spPr>
          <a:xfrm>
            <a:off x="468408" y="859720"/>
            <a:ext cx="4465542" cy="42745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9265B9-B0E9-23F3-0518-412924AA7AFB}"/>
              </a:ext>
            </a:extLst>
          </p:cNvPr>
          <p:cNvSpPr txBox="1"/>
          <p:nvPr/>
        </p:nvSpPr>
        <p:spPr>
          <a:xfrm>
            <a:off x="468408" y="896426"/>
            <a:ext cx="34789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effectLst/>
              </a:rPr>
              <a:t>Level-0 </a:t>
            </a:r>
            <a:r>
              <a:rPr lang="en-SG" sz="1400" b="1" dirty="0"/>
              <a:t>Railway Physical World Network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8E1AA8-92DD-BE9B-DB43-C572B4BF0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08" y="1347027"/>
            <a:ext cx="4125009" cy="22137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69E2FD5-3831-C90F-874C-EBB16E455FF8}"/>
              </a:ext>
            </a:extLst>
          </p:cNvPr>
          <p:cNvSpPr txBox="1"/>
          <p:nvPr/>
        </p:nvSpPr>
        <p:spPr>
          <a:xfrm>
            <a:off x="364651" y="534719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Green Team Subnet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D7FBD9-AB8E-56DA-FA51-534E823F2D71}"/>
              </a:ext>
            </a:extLst>
          </p:cNvPr>
          <p:cNvSpPr txBox="1"/>
          <p:nvPr/>
        </p:nvSpPr>
        <p:spPr>
          <a:xfrm>
            <a:off x="3298772" y="3585857"/>
            <a:ext cx="10571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Green Team 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Subnet router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IP: 10.10.10.1</a:t>
            </a:r>
            <a:endParaRPr lang="en-SG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D0614D-ACC9-486C-14A6-889D080568C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043310" y="4146783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C11A2AB-5691-01D3-E5B3-4F1963D3D6F8}"/>
              </a:ext>
            </a:extLst>
          </p:cNvPr>
          <p:cNvCxnSpPr>
            <a:cxnSpLocks/>
          </p:cNvCxnSpPr>
          <p:nvPr/>
        </p:nvCxnSpPr>
        <p:spPr>
          <a:xfrm>
            <a:off x="3179057" y="3549610"/>
            <a:ext cx="0" cy="59024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9941354B-492B-66AE-51A6-0C0A89964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52" y="4119366"/>
            <a:ext cx="640661" cy="5643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4" name="Picture 13" descr="Radio tower - Free communications icons">
            <a:extLst>
              <a:ext uri="{FF2B5EF4-FFF2-40B4-BE49-F238E27FC236}">
                <a16:creationId xmlns:a16="http://schemas.microsoft.com/office/drawing/2014/main" id="{6A8B9092-2B73-0393-B092-D440D8B249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8" y="3846430"/>
            <a:ext cx="564392" cy="5643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ABA4DAD-9489-7677-05B2-84A82F8AAC4A}"/>
              </a:ext>
            </a:extLst>
          </p:cNvPr>
          <p:cNvSpPr txBox="1"/>
          <p:nvPr/>
        </p:nvSpPr>
        <p:spPr>
          <a:xfrm>
            <a:off x="635608" y="4730992"/>
            <a:ext cx="2150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Radio Antenna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805F4DF-614F-5816-69A0-50BE9B64128F}"/>
              </a:ext>
            </a:extLst>
          </p:cNvPr>
          <p:cNvCxnSpPr>
            <a:endCxn id="13" idx="0"/>
          </p:cNvCxnSpPr>
          <p:nvPr/>
        </p:nvCxnSpPr>
        <p:spPr>
          <a:xfrm>
            <a:off x="1073382" y="3549610"/>
            <a:ext cx="1" cy="56975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28475FF-6C73-6A7E-6557-3C9CBF1B5848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393713" y="4401562"/>
            <a:ext cx="164959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3465ED9-E64D-E969-4315-0E26B2B466D9}"/>
              </a:ext>
            </a:extLst>
          </p:cNvPr>
          <p:cNvSpPr txBox="1"/>
          <p:nvPr/>
        </p:nvSpPr>
        <p:spPr>
          <a:xfrm>
            <a:off x="1073382" y="3542682"/>
            <a:ext cx="18347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Railway Physical World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8EB6F9-0DC1-D697-DE81-84D29C15A340}"/>
              </a:ext>
            </a:extLst>
          </p:cNvPr>
          <p:cNvSpPr/>
          <p:nvPr/>
        </p:nvSpPr>
        <p:spPr>
          <a:xfrm>
            <a:off x="5247393" y="542328"/>
            <a:ext cx="2150623" cy="6058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BAAD7F-6C0E-CFE9-9DD0-2BE82E593B74}"/>
              </a:ext>
            </a:extLst>
          </p:cNvPr>
          <p:cNvSpPr txBox="1"/>
          <p:nvPr/>
        </p:nvSpPr>
        <p:spPr>
          <a:xfrm>
            <a:off x="5218594" y="534719"/>
            <a:ext cx="1676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200" b="1" i="0" dirty="0">
                <a:effectLst/>
              </a:rPr>
              <a:t>Level1 OT </a:t>
            </a:r>
          </a:p>
          <a:p>
            <a:r>
              <a:rPr lang="en-SG" sz="1200" b="1" i="0" dirty="0">
                <a:effectLst/>
              </a:rPr>
              <a:t>Controller network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16B61690-D06B-683E-A96C-2F1815AE1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05758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01D8750-A3D8-854F-5DED-CE26749F54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17598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F61F090-3612-90FF-CE95-DAF645237EF2}"/>
              </a:ext>
            </a:extLst>
          </p:cNvPr>
          <p:cNvSpPr txBox="1"/>
          <p:nvPr/>
        </p:nvSpPr>
        <p:spPr>
          <a:xfrm>
            <a:off x="6043462" y="105031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10.10.20.11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85B237C-D6F0-8A9E-F4BA-76A40D6D7F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693661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57E7A50-42BE-7A8D-A74C-FBC0F4005F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812058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A1ED7F3A-564E-3AE8-C24D-209AE0EA1E23}"/>
              </a:ext>
            </a:extLst>
          </p:cNvPr>
          <p:cNvSpPr txBox="1"/>
          <p:nvPr/>
        </p:nvSpPr>
        <p:spPr>
          <a:xfrm>
            <a:off x="6043462" y="1686388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Signal-PLC01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10.10.20.12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A868A4D5-7EAB-B072-A92D-D5B5DE9098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386" y="229227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A159F7A3-88BE-548B-F40F-14CF420261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7366" y="241067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30FBDB5-9F49-C157-6959-5FCE5647E446}"/>
              </a:ext>
            </a:extLst>
          </p:cNvPr>
          <p:cNvSpPr txBox="1"/>
          <p:nvPr/>
        </p:nvSpPr>
        <p:spPr>
          <a:xfrm>
            <a:off x="6029024" y="2285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Signal-PLC02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C3563338-667D-BC18-34B2-221B4F3884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293727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C17A5E66-1563-439F-03EE-DBD71249DF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05567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92F8513-EAF0-C611-C40A-4F4C01B8B727}"/>
              </a:ext>
            </a:extLst>
          </p:cNvPr>
          <p:cNvSpPr txBox="1"/>
          <p:nvPr/>
        </p:nvSpPr>
        <p:spPr>
          <a:xfrm>
            <a:off x="6043462" y="293000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_Pwr-PLC06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10.10.20.14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66995FC-1ED7-64AF-80B2-2B5C8A7027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3555213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2F6410D-9184-1130-2759-984AF48293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673610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3835224-3C1E-78A7-2C4A-638B28DE1FE2}"/>
              </a:ext>
            </a:extLst>
          </p:cNvPr>
          <p:cNvSpPr txBox="1"/>
          <p:nvPr/>
        </p:nvSpPr>
        <p:spPr>
          <a:xfrm>
            <a:off x="6043462" y="3547940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_Pwr-PLC07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10.10.20.15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9CD44C4-970E-1D27-0A6B-66D7338307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17685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08C50B55-7089-FF2F-4C0D-C55C906DFD0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29525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D52EE9F4-03C3-CA82-8111-0077CB75EEB2}"/>
              </a:ext>
            </a:extLst>
          </p:cNvPr>
          <p:cNvSpPr txBox="1"/>
          <p:nvPr/>
        </p:nvSpPr>
        <p:spPr>
          <a:xfrm>
            <a:off x="6043462" y="416958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Station-PLC03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4F3A52A-0F9A-AFC2-2DB7-EB7F9A6D28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750372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98332EC-B75F-A85B-D516-C8F49FD1F7C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868769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7EB48BF-6BB9-C140-45C8-DEE3AC3E43E7}"/>
              </a:ext>
            </a:extLst>
          </p:cNvPr>
          <p:cNvSpPr txBox="1"/>
          <p:nvPr/>
        </p:nvSpPr>
        <p:spPr>
          <a:xfrm>
            <a:off x="6043462" y="4743099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Station-PLC04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6504E83A-D569-F6FA-62D6-715213759C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534518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9428383-2D8B-A047-E1D6-892BC92BC9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546358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D632338-2678-B5C5-0E63-8C3424F2CBD5}"/>
              </a:ext>
            </a:extLst>
          </p:cNvPr>
          <p:cNvSpPr txBox="1"/>
          <p:nvPr/>
        </p:nvSpPr>
        <p:spPr>
          <a:xfrm>
            <a:off x="6043462" y="533791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Station-PLC05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10.10.20.17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CDE5F24-468C-23CD-6F31-D50479176F1C}"/>
              </a:ext>
            </a:extLst>
          </p:cNvPr>
          <p:cNvSpPr/>
          <p:nvPr/>
        </p:nvSpPr>
        <p:spPr>
          <a:xfrm>
            <a:off x="468408" y="5451272"/>
            <a:ext cx="4776080" cy="1149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B2A8560E-8A16-DAD4-8254-B4138BCC83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6" y="59200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841200D-A3C8-D279-F6D8-9FB6DA1C64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77366" y="6027052"/>
            <a:ext cx="340735" cy="14106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DE87FC5A-0116-7635-6AB5-3EF7A45547D3}"/>
              </a:ext>
            </a:extLst>
          </p:cNvPr>
          <p:cNvSpPr txBox="1"/>
          <p:nvPr/>
        </p:nvSpPr>
        <p:spPr>
          <a:xfrm>
            <a:off x="6075166" y="5897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Train-RTU-00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10.10.20.18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51256466-43BA-BA7D-B81D-913652755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075" y="569073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9F2A5128-1DD8-A5AE-76A3-27A9588E57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55" y="580913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E20DC80C-A737-0B4A-D3A7-74587626D3EF}"/>
              </a:ext>
            </a:extLst>
          </p:cNvPr>
          <p:cNvSpPr txBox="1"/>
          <p:nvPr/>
        </p:nvSpPr>
        <p:spPr>
          <a:xfrm>
            <a:off x="1393713" y="568346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Block-PLC08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10.10.20.19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BC5FB2A2-7B80-9CB3-60A1-D636F9004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6" y="56773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45E54E8F-CC8B-F6EB-C836-7801924420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1596" y="579576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08440DE2-111B-7F56-E568-CD30F7E330FF}"/>
              </a:ext>
            </a:extLst>
          </p:cNvPr>
          <p:cNvSpPr txBox="1"/>
          <p:nvPr/>
        </p:nvSpPr>
        <p:spPr>
          <a:xfrm>
            <a:off x="3373254" y="567009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Station-PLC09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10.10.20.20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189DC19-35B9-6666-4D3C-33561B9EAE3D}"/>
              </a:ext>
            </a:extLst>
          </p:cNvPr>
          <p:cNvCxnSpPr/>
          <p:nvPr/>
        </p:nvCxnSpPr>
        <p:spPr>
          <a:xfrm>
            <a:off x="3179057" y="4683758"/>
            <a:ext cx="0" cy="955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5C788517-1169-4A91-EA43-2AF80706FA6A}"/>
              </a:ext>
            </a:extLst>
          </p:cNvPr>
          <p:cNvCxnSpPr>
            <a:endCxn id="55" idx="0"/>
          </p:cNvCxnSpPr>
          <p:nvPr/>
        </p:nvCxnSpPr>
        <p:spPr>
          <a:xfrm rot="10800000" flipV="1">
            <a:off x="1180663" y="5345187"/>
            <a:ext cx="1998394" cy="34554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84A8C87-D364-EF5C-7D1C-B682F1F4D665}"/>
              </a:ext>
            </a:extLst>
          </p:cNvPr>
          <p:cNvCxnSpPr>
            <a:cxnSpLocks/>
          </p:cNvCxnSpPr>
          <p:nvPr/>
        </p:nvCxnSpPr>
        <p:spPr>
          <a:xfrm>
            <a:off x="3741335" y="4383126"/>
            <a:ext cx="13092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89A7D32-9552-4641-806C-9CCA0CFFAF1B}"/>
              </a:ext>
            </a:extLst>
          </p:cNvPr>
          <p:cNvCxnSpPr>
            <a:cxnSpLocks/>
          </p:cNvCxnSpPr>
          <p:nvPr/>
        </p:nvCxnSpPr>
        <p:spPr>
          <a:xfrm>
            <a:off x="5050625" y="1263855"/>
            <a:ext cx="0" cy="48308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782A0D6-FB63-7DFB-E873-1F02CE6F416C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5050625" y="126385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42F85F85-E43B-56BF-506A-EE02A47C09FD}"/>
              </a:ext>
            </a:extLst>
          </p:cNvPr>
          <p:cNvCxnSpPr>
            <a:cxnSpLocks/>
          </p:cNvCxnSpPr>
          <p:nvPr/>
        </p:nvCxnSpPr>
        <p:spPr>
          <a:xfrm flipV="1">
            <a:off x="5050625" y="189992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CC850DB-B763-1BBA-41A0-ECE482C444AA}"/>
              </a:ext>
            </a:extLst>
          </p:cNvPr>
          <p:cNvCxnSpPr>
            <a:cxnSpLocks/>
          </p:cNvCxnSpPr>
          <p:nvPr/>
        </p:nvCxnSpPr>
        <p:spPr>
          <a:xfrm flipV="1">
            <a:off x="5045712" y="249557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937702C-206D-787E-5716-637CE84892A9}"/>
              </a:ext>
            </a:extLst>
          </p:cNvPr>
          <p:cNvCxnSpPr>
            <a:cxnSpLocks/>
          </p:cNvCxnSpPr>
          <p:nvPr/>
        </p:nvCxnSpPr>
        <p:spPr>
          <a:xfrm flipV="1">
            <a:off x="5036187" y="31492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188ED804-8383-80FF-3936-12771FE8149F}"/>
              </a:ext>
            </a:extLst>
          </p:cNvPr>
          <p:cNvCxnSpPr>
            <a:cxnSpLocks/>
          </p:cNvCxnSpPr>
          <p:nvPr/>
        </p:nvCxnSpPr>
        <p:spPr>
          <a:xfrm flipV="1">
            <a:off x="5036186" y="374898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11376704-B47D-40E9-9A2A-988884248826}"/>
              </a:ext>
            </a:extLst>
          </p:cNvPr>
          <p:cNvCxnSpPr>
            <a:cxnSpLocks/>
          </p:cNvCxnSpPr>
          <p:nvPr/>
        </p:nvCxnSpPr>
        <p:spPr>
          <a:xfrm flipV="1">
            <a:off x="5045711" y="43831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798B6BC4-4865-9F74-9660-FE563AD6B74A}"/>
              </a:ext>
            </a:extLst>
          </p:cNvPr>
          <p:cNvCxnSpPr>
            <a:cxnSpLocks/>
          </p:cNvCxnSpPr>
          <p:nvPr/>
        </p:nvCxnSpPr>
        <p:spPr>
          <a:xfrm flipV="1">
            <a:off x="5045710" y="4971848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C0ED48B-8833-FF66-5C0B-6D233DF7AC72}"/>
              </a:ext>
            </a:extLst>
          </p:cNvPr>
          <p:cNvCxnSpPr>
            <a:cxnSpLocks/>
          </p:cNvCxnSpPr>
          <p:nvPr/>
        </p:nvCxnSpPr>
        <p:spPr>
          <a:xfrm flipV="1">
            <a:off x="5045710" y="555713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89912A0D-9EC5-8951-0379-505553B7D688}"/>
              </a:ext>
            </a:extLst>
          </p:cNvPr>
          <p:cNvCxnSpPr>
            <a:cxnSpLocks/>
          </p:cNvCxnSpPr>
          <p:nvPr/>
        </p:nvCxnSpPr>
        <p:spPr>
          <a:xfrm flipV="1">
            <a:off x="5036185" y="6094712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419BA52-0BA3-9483-21D0-3E2187AA22F6}"/>
              </a:ext>
            </a:extLst>
          </p:cNvPr>
          <p:cNvCxnSpPr>
            <a:cxnSpLocks/>
          </p:cNvCxnSpPr>
          <p:nvPr/>
        </p:nvCxnSpPr>
        <p:spPr>
          <a:xfrm>
            <a:off x="6109225" y="1457601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A215BE5-FCBB-3A99-A837-F1251BA6F7B9}"/>
              </a:ext>
            </a:extLst>
          </p:cNvPr>
          <p:cNvCxnSpPr>
            <a:cxnSpLocks/>
          </p:cNvCxnSpPr>
          <p:nvPr/>
        </p:nvCxnSpPr>
        <p:spPr>
          <a:xfrm>
            <a:off x="6109225" y="206524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4F6672B2-8928-F82C-BBFE-546E244900D5}"/>
              </a:ext>
            </a:extLst>
          </p:cNvPr>
          <p:cNvCxnSpPr>
            <a:cxnSpLocks/>
          </p:cNvCxnSpPr>
          <p:nvPr/>
        </p:nvCxnSpPr>
        <p:spPr>
          <a:xfrm>
            <a:off x="6081562" y="266386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7CEC920-6759-BDA5-6942-8B97490EAFC2}"/>
              </a:ext>
            </a:extLst>
          </p:cNvPr>
          <p:cNvCxnSpPr>
            <a:cxnSpLocks/>
          </p:cNvCxnSpPr>
          <p:nvPr/>
        </p:nvCxnSpPr>
        <p:spPr>
          <a:xfrm>
            <a:off x="6109225" y="332818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DE815E3-A776-109E-46D8-3A6B57C87A55}"/>
              </a:ext>
            </a:extLst>
          </p:cNvPr>
          <p:cNvCxnSpPr>
            <a:cxnSpLocks/>
          </p:cNvCxnSpPr>
          <p:nvPr/>
        </p:nvCxnSpPr>
        <p:spPr>
          <a:xfrm>
            <a:off x="6109225" y="3926797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7C30C3B8-E0B4-BF4F-5F8B-1D5264BCCE21}"/>
              </a:ext>
            </a:extLst>
          </p:cNvPr>
          <p:cNvCxnSpPr>
            <a:cxnSpLocks/>
          </p:cNvCxnSpPr>
          <p:nvPr/>
        </p:nvCxnSpPr>
        <p:spPr>
          <a:xfrm>
            <a:off x="6109225" y="454844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AB431E1-C492-73C2-4F8A-A8B4DDCE87FE}"/>
              </a:ext>
            </a:extLst>
          </p:cNvPr>
          <p:cNvCxnSpPr>
            <a:cxnSpLocks/>
          </p:cNvCxnSpPr>
          <p:nvPr/>
        </p:nvCxnSpPr>
        <p:spPr>
          <a:xfrm>
            <a:off x="6109225" y="516154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2D7B45A-FD37-91E8-689C-788D1121414A}"/>
              </a:ext>
            </a:extLst>
          </p:cNvPr>
          <p:cNvCxnSpPr>
            <a:cxnSpLocks/>
          </p:cNvCxnSpPr>
          <p:nvPr/>
        </p:nvCxnSpPr>
        <p:spPr>
          <a:xfrm>
            <a:off x="6109225" y="5717048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4410A32-A9B8-D409-744F-FD3D70984C49}"/>
              </a:ext>
            </a:extLst>
          </p:cNvPr>
          <p:cNvCxnSpPr>
            <a:cxnSpLocks/>
          </p:cNvCxnSpPr>
          <p:nvPr/>
        </p:nvCxnSpPr>
        <p:spPr>
          <a:xfrm>
            <a:off x="6109225" y="628566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AD647F3-10B1-BFFC-634D-74C8B4EADD16}"/>
              </a:ext>
            </a:extLst>
          </p:cNvPr>
          <p:cNvCxnSpPr>
            <a:cxnSpLocks/>
          </p:cNvCxnSpPr>
          <p:nvPr/>
        </p:nvCxnSpPr>
        <p:spPr>
          <a:xfrm>
            <a:off x="1158072" y="6464206"/>
            <a:ext cx="64251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F88220D-5B84-A007-4BC6-67979790D589}"/>
              </a:ext>
            </a:extLst>
          </p:cNvPr>
          <p:cNvCxnSpPr>
            <a:cxnSpLocks/>
          </p:cNvCxnSpPr>
          <p:nvPr/>
        </p:nvCxnSpPr>
        <p:spPr>
          <a:xfrm flipV="1">
            <a:off x="1180662" y="6168121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6228AA40-02B7-6CFA-38D4-20EA09357EEF}"/>
              </a:ext>
            </a:extLst>
          </p:cNvPr>
          <p:cNvCxnSpPr>
            <a:cxnSpLocks/>
          </p:cNvCxnSpPr>
          <p:nvPr/>
        </p:nvCxnSpPr>
        <p:spPr>
          <a:xfrm flipV="1">
            <a:off x="3169291" y="6154035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72102E63-F094-4010-4A13-CB472C64B0CE}"/>
              </a:ext>
            </a:extLst>
          </p:cNvPr>
          <p:cNvCxnSpPr>
            <a:cxnSpLocks/>
          </p:cNvCxnSpPr>
          <p:nvPr/>
        </p:nvCxnSpPr>
        <p:spPr>
          <a:xfrm>
            <a:off x="7591878" y="1438696"/>
            <a:ext cx="0" cy="503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2376D1A-9422-65B3-B5C7-72A1881C092C}"/>
              </a:ext>
            </a:extLst>
          </p:cNvPr>
          <p:cNvSpPr/>
          <p:nvPr/>
        </p:nvSpPr>
        <p:spPr>
          <a:xfrm>
            <a:off x="7785740" y="503624"/>
            <a:ext cx="3863336" cy="42467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E054BF6-5C25-3746-9BD9-CDF35DDC1B48}"/>
              </a:ext>
            </a:extLst>
          </p:cNvPr>
          <p:cNvSpPr txBox="1"/>
          <p:nvPr/>
        </p:nvSpPr>
        <p:spPr>
          <a:xfrm>
            <a:off x="7807290" y="534719"/>
            <a:ext cx="39163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Level2 OT  </a:t>
            </a:r>
            <a:r>
              <a:rPr lang="en-SG" sz="1400" b="1" dirty="0"/>
              <a:t>Operation Room SCADA Network</a:t>
            </a:r>
          </a:p>
        </p:txBody>
      </p:sp>
      <p:pic>
        <p:nvPicPr>
          <p:cNvPr id="111" name="Picture 110" descr="A screenshot of a computer&#10;&#10;Description automatically generated">
            <a:extLst>
              <a:ext uri="{FF2B5EF4-FFF2-40B4-BE49-F238E27FC236}">
                <a16:creationId xmlns:a16="http://schemas.microsoft.com/office/drawing/2014/main" id="{56E3E0D6-248F-4283-7E3F-3309B995C71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2187835"/>
            <a:ext cx="2014631" cy="1140350"/>
          </a:xfrm>
          <a:prstGeom prst="rect">
            <a:avLst/>
          </a:prstGeom>
          <a:ln w="9525">
            <a:solidFill>
              <a:srgbClr val="D67A3B"/>
            </a:solidFill>
          </a:ln>
        </p:spPr>
      </p:pic>
      <p:pic>
        <p:nvPicPr>
          <p:cNvPr id="112" name="Picture 111" descr="A screenshot of a computer&#10;&#10;Description automatically generated">
            <a:extLst>
              <a:ext uri="{FF2B5EF4-FFF2-40B4-BE49-F238E27FC236}">
                <a16:creationId xmlns:a16="http://schemas.microsoft.com/office/drawing/2014/main" id="{BB66828A-F36C-3731-7B13-1C28830C1C2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3924" y="3441688"/>
            <a:ext cx="2027496" cy="1162932"/>
          </a:xfrm>
          <a:prstGeom prst="rect">
            <a:avLst/>
          </a:prstGeom>
          <a:ln>
            <a:solidFill>
              <a:srgbClr val="D67A3B"/>
            </a:solidFill>
          </a:ln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5B643964-CB1C-5F2C-9D26-F4F6DB0F76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1573" y="902313"/>
            <a:ext cx="2028369" cy="1162932"/>
          </a:xfrm>
          <a:prstGeom prst="rect">
            <a:avLst/>
          </a:prstGeom>
          <a:ln w="12700">
            <a:solidFill>
              <a:srgbClr val="D67A3B"/>
            </a:solidFill>
          </a:ln>
        </p:spPr>
      </p:pic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4A04837-4270-310B-F385-B875CA3C01C3}"/>
              </a:ext>
            </a:extLst>
          </p:cNvPr>
          <p:cNvCxnSpPr>
            <a:cxnSpLocks/>
          </p:cNvCxnSpPr>
          <p:nvPr/>
        </p:nvCxnSpPr>
        <p:spPr>
          <a:xfrm>
            <a:off x="8096703" y="1476651"/>
            <a:ext cx="0" cy="29532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AEED5173-CBBD-4448-6E17-3895994B7095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8096250" y="1483779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6D5EA7DF-5C4D-0643-9BCA-177E426EB48A}"/>
              </a:ext>
            </a:extLst>
          </p:cNvPr>
          <p:cNvCxnSpPr>
            <a:cxnSpLocks/>
          </p:cNvCxnSpPr>
          <p:nvPr/>
        </p:nvCxnSpPr>
        <p:spPr>
          <a:xfrm>
            <a:off x="8086725" y="2805723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BF59C166-4804-46EF-F6A0-2240C34F6D68}"/>
              </a:ext>
            </a:extLst>
          </p:cNvPr>
          <p:cNvCxnSpPr>
            <a:cxnSpLocks/>
          </p:cNvCxnSpPr>
          <p:nvPr/>
        </p:nvCxnSpPr>
        <p:spPr>
          <a:xfrm>
            <a:off x="8105775" y="441082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48FE4A3B-ABF9-8B5D-0788-AFA5D2E19D42}"/>
              </a:ext>
            </a:extLst>
          </p:cNvPr>
          <p:cNvSpPr txBox="1"/>
          <p:nvPr/>
        </p:nvSpPr>
        <p:spPr>
          <a:xfrm>
            <a:off x="10469943" y="923904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HMI-Block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F2447AB-9FA2-7778-29F0-0CBEE8AA1503}"/>
              </a:ext>
            </a:extLst>
          </p:cNvPr>
          <p:cNvSpPr txBox="1"/>
          <p:nvPr/>
        </p:nvSpPr>
        <p:spPr>
          <a:xfrm>
            <a:off x="10455505" y="2199988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HMI-Signal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1419A2D-D5FC-8AAB-67DB-68A95D65D445}"/>
              </a:ext>
            </a:extLst>
          </p:cNvPr>
          <p:cNvSpPr txBox="1"/>
          <p:nvPr/>
        </p:nvSpPr>
        <p:spPr>
          <a:xfrm>
            <a:off x="10524284" y="3535267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HMI-Train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29AFD302-39CC-7571-C46D-A71AB6AF4CB2}"/>
              </a:ext>
            </a:extLst>
          </p:cNvPr>
          <p:cNvSpPr/>
          <p:nvPr/>
        </p:nvSpPr>
        <p:spPr>
          <a:xfrm>
            <a:off x="7755081" y="4988801"/>
            <a:ext cx="3885381" cy="1612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2B46A101-0543-5115-E395-761968BE301D}"/>
              </a:ext>
            </a:extLst>
          </p:cNvPr>
          <p:cNvCxnSpPr>
            <a:cxnSpLocks/>
          </p:cNvCxnSpPr>
          <p:nvPr/>
        </p:nvCxnSpPr>
        <p:spPr>
          <a:xfrm>
            <a:off x="7991928" y="4146783"/>
            <a:ext cx="0" cy="17732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5CDC3E2A-52C6-535A-120A-7995967A3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3100" y="5921746"/>
            <a:ext cx="555514" cy="4055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E0B215FC-0DE8-7F0F-501C-57F702B8B014}"/>
              </a:ext>
            </a:extLst>
          </p:cNvPr>
          <p:cNvSpPr txBox="1"/>
          <p:nvPr/>
        </p:nvSpPr>
        <p:spPr>
          <a:xfrm>
            <a:off x="8087029" y="5007654"/>
            <a:ext cx="32607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</a:t>
            </a:r>
            <a:r>
              <a:rPr lang="en-SG" sz="1400" b="1" dirty="0"/>
              <a:t>3</a:t>
            </a:r>
            <a:r>
              <a:rPr lang="en-SG" sz="1400" b="1" i="0" dirty="0">
                <a:effectLst/>
              </a:rPr>
              <a:t> OT  </a:t>
            </a:r>
            <a:r>
              <a:rPr lang="en-SG" sz="1400" b="1" dirty="0"/>
              <a:t>Management Network</a:t>
            </a:r>
          </a:p>
        </p:txBody>
      </p:sp>
      <p:pic>
        <p:nvPicPr>
          <p:cNvPr id="132" name="Picture 131">
            <a:extLst>
              <a:ext uri="{FF2B5EF4-FFF2-40B4-BE49-F238E27FC236}">
                <a16:creationId xmlns:a16="http://schemas.microsoft.com/office/drawing/2014/main" id="{DBC002DA-99DA-83A1-A930-C685E99D6CA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761" y="5315552"/>
            <a:ext cx="1998394" cy="11051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3" name="TextBox 132">
            <a:extLst>
              <a:ext uri="{FF2B5EF4-FFF2-40B4-BE49-F238E27FC236}">
                <a16:creationId xmlns:a16="http://schemas.microsoft.com/office/drawing/2014/main" id="{54DCF0DC-B536-A5E4-3729-8C6DF587D049}"/>
              </a:ext>
            </a:extLst>
          </p:cNvPr>
          <p:cNvSpPr txBox="1"/>
          <p:nvPr/>
        </p:nvSpPr>
        <p:spPr>
          <a:xfrm>
            <a:off x="10561542" y="5273734"/>
            <a:ext cx="116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HMI-Management 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10.10.40.11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303B0305-23CB-4183-3699-6BA462FF0DF1}"/>
              </a:ext>
            </a:extLst>
          </p:cNvPr>
          <p:cNvCxnSpPr>
            <a:cxnSpLocks/>
          </p:cNvCxnSpPr>
          <p:nvPr/>
        </p:nvCxnSpPr>
        <p:spPr>
          <a:xfrm>
            <a:off x="8401050" y="6120218"/>
            <a:ext cx="133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596A2DCB-D8DB-F612-A03D-2A52F4D28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045" y="3672018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137426EE-12A9-9087-6A5A-3A66E35DAAD2}"/>
              </a:ext>
            </a:extLst>
          </p:cNvPr>
          <p:cNvSpPr txBox="1"/>
          <p:nvPr/>
        </p:nvSpPr>
        <p:spPr>
          <a:xfrm>
            <a:off x="5153452" y="261543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Subnet01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E12997B7-F541-CEFB-A331-FCCE0D04781F}"/>
              </a:ext>
            </a:extLst>
          </p:cNvPr>
          <p:cNvSpPr txBox="1"/>
          <p:nvPr/>
        </p:nvSpPr>
        <p:spPr>
          <a:xfrm>
            <a:off x="7591878" y="211394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Subnet02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09D075C-19B3-A585-0C81-7D5DF00AC9F4}"/>
              </a:ext>
            </a:extLst>
          </p:cNvPr>
          <p:cNvSpPr txBox="1"/>
          <p:nvPr/>
        </p:nvSpPr>
        <p:spPr>
          <a:xfrm>
            <a:off x="8191180" y="4736735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Subnet03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Cylinder 140">
            <a:extLst>
              <a:ext uri="{FF2B5EF4-FFF2-40B4-BE49-F238E27FC236}">
                <a16:creationId xmlns:a16="http://schemas.microsoft.com/office/drawing/2014/main" id="{2A9A1A15-2986-6882-F284-4F55C7146F90}"/>
              </a:ext>
            </a:extLst>
          </p:cNvPr>
          <p:cNvSpPr/>
          <p:nvPr/>
        </p:nvSpPr>
        <p:spPr>
          <a:xfrm>
            <a:off x="10814797" y="157808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DB01</a:t>
            </a:r>
            <a:endParaRPr lang="en-SG" sz="1200" b="1" dirty="0"/>
          </a:p>
        </p:txBody>
      </p:sp>
      <p:sp>
        <p:nvSpPr>
          <p:cNvPr id="143" name="Cylinder 142">
            <a:extLst>
              <a:ext uri="{FF2B5EF4-FFF2-40B4-BE49-F238E27FC236}">
                <a16:creationId xmlns:a16="http://schemas.microsoft.com/office/drawing/2014/main" id="{95EEB8D0-7CA0-6872-4349-98EAEBA212AD}"/>
              </a:ext>
            </a:extLst>
          </p:cNvPr>
          <p:cNvSpPr/>
          <p:nvPr/>
        </p:nvSpPr>
        <p:spPr>
          <a:xfrm>
            <a:off x="10814797" y="288069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DB02</a:t>
            </a:r>
            <a:endParaRPr lang="en-SG" sz="1200" b="1" dirty="0"/>
          </a:p>
        </p:txBody>
      </p:sp>
      <p:sp>
        <p:nvSpPr>
          <p:cNvPr id="144" name="Cylinder 143">
            <a:extLst>
              <a:ext uri="{FF2B5EF4-FFF2-40B4-BE49-F238E27FC236}">
                <a16:creationId xmlns:a16="http://schemas.microsoft.com/office/drawing/2014/main" id="{C0D5ECC8-4189-BA7B-8137-2B82398A442E}"/>
              </a:ext>
            </a:extLst>
          </p:cNvPr>
          <p:cNvSpPr/>
          <p:nvPr/>
        </p:nvSpPr>
        <p:spPr>
          <a:xfrm>
            <a:off x="10814797" y="4138151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DB03</a:t>
            </a:r>
            <a:endParaRPr lang="en-SG" sz="1200" b="1" dirty="0"/>
          </a:p>
        </p:txBody>
      </p:sp>
      <p:sp>
        <p:nvSpPr>
          <p:cNvPr id="145" name="Cylinder 144">
            <a:extLst>
              <a:ext uri="{FF2B5EF4-FFF2-40B4-BE49-F238E27FC236}">
                <a16:creationId xmlns:a16="http://schemas.microsoft.com/office/drawing/2014/main" id="{A8C6BBAE-3D00-6232-D17A-2B8BE79D13D0}"/>
              </a:ext>
            </a:extLst>
          </p:cNvPr>
          <p:cNvSpPr/>
          <p:nvPr/>
        </p:nvSpPr>
        <p:spPr>
          <a:xfrm>
            <a:off x="10864962" y="6032366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DB04</a:t>
            </a:r>
            <a:endParaRPr lang="en-SG" sz="1200" b="1" dirty="0"/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FE21207-E45F-0FDC-6A52-A9E0D1DCC250}"/>
              </a:ext>
            </a:extLst>
          </p:cNvPr>
          <p:cNvCxnSpPr>
            <a:cxnSpLocks/>
          </p:cNvCxnSpPr>
          <p:nvPr/>
        </p:nvCxnSpPr>
        <p:spPr>
          <a:xfrm>
            <a:off x="10487025" y="1840821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EFBBCAD4-D510-A7E0-1AC7-00726BF3534E}"/>
              </a:ext>
            </a:extLst>
          </p:cNvPr>
          <p:cNvCxnSpPr>
            <a:cxnSpLocks/>
          </p:cNvCxnSpPr>
          <p:nvPr/>
        </p:nvCxnSpPr>
        <p:spPr>
          <a:xfrm>
            <a:off x="10467975" y="308397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79C8B580-9159-0714-D074-72334567FEB3}"/>
              </a:ext>
            </a:extLst>
          </p:cNvPr>
          <p:cNvCxnSpPr>
            <a:cxnSpLocks/>
          </p:cNvCxnSpPr>
          <p:nvPr/>
        </p:nvCxnSpPr>
        <p:spPr>
          <a:xfrm>
            <a:off x="10496550" y="4361955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477C4137-AEAF-16BC-43A1-8B0740187B09}"/>
              </a:ext>
            </a:extLst>
          </p:cNvPr>
          <p:cNvCxnSpPr>
            <a:cxnSpLocks/>
          </p:cNvCxnSpPr>
          <p:nvPr/>
        </p:nvCxnSpPr>
        <p:spPr>
          <a:xfrm>
            <a:off x="10515600" y="6247367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3430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247B1-F81E-EA66-FC49-8899BBE62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B19E1E2-E6A4-374D-438D-D9216383A7D1}"/>
              </a:ext>
            </a:extLst>
          </p:cNvPr>
          <p:cNvSpPr/>
          <p:nvPr/>
        </p:nvSpPr>
        <p:spPr>
          <a:xfrm>
            <a:off x="468408" y="859720"/>
            <a:ext cx="4465542" cy="42745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676EC4-FC89-9452-3080-565DE1E9D697}"/>
              </a:ext>
            </a:extLst>
          </p:cNvPr>
          <p:cNvSpPr txBox="1"/>
          <p:nvPr/>
        </p:nvSpPr>
        <p:spPr>
          <a:xfrm>
            <a:off x="468408" y="896426"/>
            <a:ext cx="34789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effectLst/>
              </a:rPr>
              <a:t>Level-0 </a:t>
            </a:r>
            <a:r>
              <a:rPr lang="en-SG" sz="1400" b="1" dirty="0"/>
              <a:t>Railway Physical World Network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F6AB8D-83D2-E45E-5109-B777624C7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608" y="1347027"/>
            <a:ext cx="4125009" cy="221375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A5620E8-D1FF-0E02-7B41-74C046B0BC61}"/>
              </a:ext>
            </a:extLst>
          </p:cNvPr>
          <p:cNvSpPr txBox="1"/>
          <p:nvPr/>
        </p:nvSpPr>
        <p:spPr>
          <a:xfrm>
            <a:off x="364651" y="534719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Green Team Subnet</a:t>
            </a:r>
            <a:endParaRPr lang="en-SG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544F7D-5D27-379E-D585-F8794F54399B}"/>
              </a:ext>
            </a:extLst>
          </p:cNvPr>
          <p:cNvSpPr txBox="1"/>
          <p:nvPr/>
        </p:nvSpPr>
        <p:spPr>
          <a:xfrm>
            <a:off x="3298772" y="3585857"/>
            <a:ext cx="105719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Green Team 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Subnet router</a:t>
            </a:r>
          </a:p>
          <a:p>
            <a:r>
              <a:rPr lang="en-US" sz="1000" b="1" dirty="0">
                <a:solidFill>
                  <a:schemeClr val="accent6">
                    <a:lumMod val="50000"/>
                  </a:schemeClr>
                </a:solidFill>
              </a:rPr>
              <a:t>IP: 10.10.10.1</a:t>
            </a:r>
            <a:endParaRPr lang="en-SG" sz="10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ACB5BB-0C8B-6BBA-04D0-15641BC7B1C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043310" y="4146783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AFAE0CA-73EC-DC44-907F-8FB78492305B}"/>
              </a:ext>
            </a:extLst>
          </p:cNvPr>
          <p:cNvCxnSpPr>
            <a:cxnSpLocks/>
          </p:cNvCxnSpPr>
          <p:nvPr/>
        </p:nvCxnSpPr>
        <p:spPr>
          <a:xfrm>
            <a:off x="3179057" y="3549610"/>
            <a:ext cx="0" cy="59024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5D71535B-8712-F73A-B319-33E85C0DA6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052" y="4119366"/>
            <a:ext cx="640661" cy="5643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4" name="Picture 13" descr="Radio tower - Free communications icons">
            <a:extLst>
              <a:ext uri="{FF2B5EF4-FFF2-40B4-BE49-F238E27FC236}">
                <a16:creationId xmlns:a16="http://schemas.microsoft.com/office/drawing/2014/main" id="{CEEF41BC-3F7E-68F6-90E0-D183811766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408" y="3846430"/>
            <a:ext cx="564392" cy="56439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52F472A-7FB9-35D8-DBC1-DC6B2B3F8FFD}"/>
              </a:ext>
            </a:extLst>
          </p:cNvPr>
          <p:cNvSpPr txBox="1"/>
          <p:nvPr/>
        </p:nvSpPr>
        <p:spPr>
          <a:xfrm>
            <a:off x="635608" y="4730992"/>
            <a:ext cx="21506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Radio Antenna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10.10.10.22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EB8C7F-6201-FED7-1527-A2A3E558AD21}"/>
              </a:ext>
            </a:extLst>
          </p:cNvPr>
          <p:cNvCxnSpPr>
            <a:endCxn id="13" idx="0"/>
          </p:cNvCxnSpPr>
          <p:nvPr/>
        </p:nvCxnSpPr>
        <p:spPr>
          <a:xfrm>
            <a:off x="1073382" y="3549610"/>
            <a:ext cx="1" cy="569756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CE99269-3076-A33B-CEC9-87CDB4D2565D}"/>
              </a:ext>
            </a:extLst>
          </p:cNvPr>
          <p:cNvCxnSpPr>
            <a:cxnSpLocks/>
            <a:stCxn id="13" idx="3"/>
            <a:endCxn id="10" idx="1"/>
          </p:cNvCxnSpPr>
          <p:nvPr/>
        </p:nvCxnSpPr>
        <p:spPr>
          <a:xfrm>
            <a:off x="1393713" y="4401562"/>
            <a:ext cx="1649597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F01839E-49EB-F00E-B4C9-4C75A4CCE61C}"/>
              </a:ext>
            </a:extLst>
          </p:cNvPr>
          <p:cNvSpPr txBox="1"/>
          <p:nvPr/>
        </p:nvSpPr>
        <p:spPr>
          <a:xfrm>
            <a:off x="1073382" y="3542682"/>
            <a:ext cx="1834713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Railway Physical World Simulator </a:t>
            </a:r>
          </a:p>
          <a:p>
            <a:r>
              <a:rPr 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GT IP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10.10.10.21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2EEE355-59D9-721D-59F4-167C4A9C49D9}"/>
              </a:ext>
            </a:extLst>
          </p:cNvPr>
          <p:cNvSpPr/>
          <p:nvPr/>
        </p:nvSpPr>
        <p:spPr>
          <a:xfrm>
            <a:off x="5247393" y="542328"/>
            <a:ext cx="2150623" cy="605849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0DF3D6-8C3B-ECCB-AAEB-B92291559FD3}"/>
              </a:ext>
            </a:extLst>
          </p:cNvPr>
          <p:cNvSpPr txBox="1"/>
          <p:nvPr/>
        </p:nvSpPr>
        <p:spPr>
          <a:xfrm>
            <a:off x="5218594" y="534719"/>
            <a:ext cx="16760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2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200" b="1" i="0" dirty="0">
                <a:effectLst/>
              </a:rPr>
              <a:t>Level1 OT </a:t>
            </a:r>
          </a:p>
          <a:p>
            <a:r>
              <a:rPr lang="en-SG" sz="1200" b="1" i="0" dirty="0">
                <a:effectLst/>
              </a:rPr>
              <a:t>Controller network</a:t>
            </a:r>
            <a:endParaRPr lang="en-SG" sz="12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5066B6FE-B1D4-0707-87CE-E5875AF512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05758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FB216AFF-CA11-787E-19A2-FA4CECB0B0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17598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8AD51F85-D4E7-E137-0D10-5215F6FCDF28}"/>
              </a:ext>
            </a:extLst>
          </p:cNvPr>
          <p:cNvSpPr txBox="1"/>
          <p:nvPr/>
        </p:nvSpPr>
        <p:spPr>
          <a:xfrm>
            <a:off x="6043462" y="105031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10.10.20.11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BE0D7F9-2743-8AF7-C215-1BBEE783A6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1693661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2163610-95C4-827C-D77A-C7CE25D349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1812058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D9E5476-105F-60FC-EF00-DF63E56DEA82}"/>
              </a:ext>
            </a:extLst>
          </p:cNvPr>
          <p:cNvSpPr txBox="1"/>
          <p:nvPr/>
        </p:nvSpPr>
        <p:spPr>
          <a:xfrm>
            <a:off x="6043462" y="1686388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Signal-PLC01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10.10.20.12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05561C6D-52DF-174C-BE0D-C392B060A3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386" y="229227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F7B4BD3B-0948-C1E3-F5B6-86BDC893E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77366" y="241067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49C3FC90-197C-941B-36AD-B7FC8FC0D84C}"/>
              </a:ext>
            </a:extLst>
          </p:cNvPr>
          <p:cNvSpPr txBox="1"/>
          <p:nvPr/>
        </p:nvSpPr>
        <p:spPr>
          <a:xfrm>
            <a:off x="6029024" y="2285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Signal-PLC02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10.10.20.13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F9275EF0-E501-8A29-2CC3-7D4F12CBF0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293727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0115419-007F-796F-CD10-9321F1BF62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05567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363595B3-7BF7-5D5A-7D82-939F705ED550}"/>
              </a:ext>
            </a:extLst>
          </p:cNvPr>
          <p:cNvSpPr txBox="1"/>
          <p:nvPr/>
        </p:nvSpPr>
        <p:spPr>
          <a:xfrm>
            <a:off x="6043462" y="293000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_Pwr-PLC06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10.10.20.14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F032F57F-D5BE-25DD-5F39-26642E18F5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3555213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99A3D5F0-6E09-00A4-A8CB-3B67825349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3673610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3E97AE-82FA-C1C9-6E06-4D7EC0354B3A}"/>
              </a:ext>
            </a:extLst>
          </p:cNvPr>
          <p:cNvSpPr txBox="1"/>
          <p:nvPr/>
        </p:nvSpPr>
        <p:spPr>
          <a:xfrm>
            <a:off x="6043462" y="3547940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3</a:t>
            </a:r>
            <a:r>
              <a:rPr lang="en-US" sz="900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_Pwr-PLC07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10.10.20.15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CAA4865A-FE77-C3F7-4D67-34033CF9CB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17685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80F44834-BECA-9DF6-4FD5-3097003DD5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29525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1F308D4-81B5-51E9-748B-EB864E42C43A}"/>
              </a:ext>
            </a:extLst>
          </p:cNvPr>
          <p:cNvSpPr txBox="1"/>
          <p:nvPr/>
        </p:nvSpPr>
        <p:spPr>
          <a:xfrm>
            <a:off x="6043462" y="416958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Station-PLC03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7A3D60B-9EB7-20CD-486B-9C9FA83C45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4750372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F5A02CA3-38DA-8933-CC4D-267142996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4868769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5D10DB4-DBDF-0076-5062-6F27F38F5480}"/>
              </a:ext>
            </a:extLst>
          </p:cNvPr>
          <p:cNvSpPr txBox="1"/>
          <p:nvPr/>
        </p:nvSpPr>
        <p:spPr>
          <a:xfrm>
            <a:off x="6043462" y="4743099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Station-PLC04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10.10.20.16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FB2E9718-E667-0F88-5C81-4EF89678FD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824" y="5345188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72FF601-B12F-E07A-FE8A-98D8C1CBCFF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1804" y="5463585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55CA548A-B299-7DF5-914F-398EBC379AAB}"/>
              </a:ext>
            </a:extLst>
          </p:cNvPr>
          <p:cNvSpPr txBox="1"/>
          <p:nvPr/>
        </p:nvSpPr>
        <p:spPr>
          <a:xfrm>
            <a:off x="6043462" y="533791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Station-PLC05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10.10.20.17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E8DF5A6-CD21-1DEC-6925-67A60613EC36}"/>
              </a:ext>
            </a:extLst>
          </p:cNvPr>
          <p:cNvSpPr/>
          <p:nvPr/>
        </p:nvSpPr>
        <p:spPr>
          <a:xfrm>
            <a:off x="468408" y="5451272"/>
            <a:ext cx="4776080" cy="11495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EBFD455-42CE-016C-E142-E1119A4B55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246" y="59200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2F8B3A6-C420-C7BE-DEAA-8D85675BF2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77366" y="6027052"/>
            <a:ext cx="340735" cy="14106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F218AC40-CE5D-77DD-54B3-BF83B66336BC}"/>
              </a:ext>
            </a:extLst>
          </p:cNvPr>
          <p:cNvSpPr txBox="1"/>
          <p:nvPr/>
        </p:nvSpPr>
        <p:spPr>
          <a:xfrm>
            <a:off x="6075166" y="5897005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Train-RTU-00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10.10.20.18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A4C1D6F9-E1D0-8944-BFF4-73D0EE01B2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075" y="5690737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F9CE07E7-F211-678B-217D-6A0FEE4A28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55" y="5809134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E4623E6-39F9-6D83-235C-80C4EEB58812}"/>
              </a:ext>
            </a:extLst>
          </p:cNvPr>
          <p:cNvSpPr txBox="1"/>
          <p:nvPr/>
        </p:nvSpPr>
        <p:spPr>
          <a:xfrm>
            <a:off x="1393713" y="5683464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Block-PLC08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10.10.20.19</a:t>
            </a:r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36EE06B3-79F9-8B1D-D98F-E652774973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4616" y="5677365"/>
            <a:ext cx="531176" cy="467941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677DC5B-B875-A191-FC2C-C3CF3D1016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1596" y="5795762"/>
            <a:ext cx="297869" cy="175743"/>
          </a:xfrm>
          <a:prstGeom prst="rect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E179B781-9345-8BD8-361A-63173E82D2DD}"/>
              </a:ext>
            </a:extLst>
          </p:cNvPr>
          <p:cNvSpPr txBox="1"/>
          <p:nvPr/>
        </p:nvSpPr>
        <p:spPr>
          <a:xfrm>
            <a:off x="3373254" y="5670092"/>
            <a:ext cx="13516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Station-PLC09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10.10.20.20</a:t>
            </a:r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CB3E74E-7A2E-1C73-3AED-D70F62BE1B79}"/>
              </a:ext>
            </a:extLst>
          </p:cNvPr>
          <p:cNvCxnSpPr/>
          <p:nvPr/>
        </p:nvCxnSpPr>
        <p:spPr>
          <a:xfrm>
            <a:off x="3179057" y="4683758"/>
            <a:ext cx="0" cy="955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68463AB9-371D-5969-71D6-12AFB8306F40}"/>
              </a:ext>
            </a:extLst>
          </p:cNvPr>
          <p:cNvCxnSpPr>
            <a:endCxn id="55" idx="0"/>
          </p:cNvCxnSpPr>
          <p:nvPr/>
        </p:nvCxnSpPr>
        <p:spPr>
          <a:xfrm rot="10800000" flipV="1">
            <a:off x="1180663" y="5345187"/>
            <a:ext cx="1998394" cy="345549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D27C56C-D08C-F2BA-BED6-3837C622266F}"/>
              </a:ext>
            </a:extLst>
          </p:cNvPr>
          <p:cNvCxnSpPr>
            <a:cxnSpLocks/>
          </p:cNvCxnSpPr>
          <p:nvPr/>
        </p:nvCxnSpPr>
        <p:spPr>
          <a:xfrm>
            <a:off x="3741335" y="4383126"/>
            <a:ext cx="130929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C0F5793-C522-4C3D-7802-B6334B54A6E6}"/>
              </a:ext>
            </a:extLst>
          </p:cNvPr>
          <p:cNvCxnSpPr>
            <a:cxnSpLocks/>
          </p:cNvCxnSpPr>
          <p:nvPr/>
        </p:nvCxnSpPr>
        <p:spPr>
          <a:xfrm>
            <a:off x="5050625" y="1263855"/>
            <a:ext cx="0" cy="48308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35C9F1F9-41A7-8B7E-34E8-C759D21AEE2C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5050625" y="126385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67EF7D3-0AC8-52BF-D43D-96B75C8FF803}"/>
              </a:ext>
            </a:extLst>
          </p:cNvPr>
          <p:cNvCxnSpPr>
            <a:cxnSpLocks/>
          </p:cNvCxnSpPr>
          <p:nvPr/>
        </p:nvCxnSpPr>
        <p:spPr>
          <a:xfrm flipV="1">
            <a:off x="5050625" y="189992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4C71B9F6-074A-D2BD-B9B5-29FAA43D6EF0}"/>
              </a:ext>
            </a:extLst>
          </p:cNvPr>
          <p:cNvCxnSpPr>
            <a:cxnSpLocks/>
          </p:cNvCxnSpPr>
          <p:nvPr/>
        </p:nvCxnSpPr>
        <p:spPr>
          <a:xfrm flipV="1">
            <a:off x="5045712" y="249557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AC59447B-0708-BCA5-4258-F61FE3E598AB}"/>
              </a:ext>
            </a:extLst>
          </p:cNvPr>
          <p:cNvCxnSpPr>
            <a:cxnSpLocks/>
          </p:cNvCxnSpPr>
          <p:nvPr/>
        </p:nvCxnSpPr>
        <p:spPr>
          <a:xfrm flipV="1">
            <a:off x="5036187" y="31492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8DB8B3F-8BC0-79B3-BA35-4F09B41F5F59}"/>
              </a:ext>
            </a:extLst>
          </p:cNvPr>
          <p:cNvCxnSpPr>
            <a:cxnSpLocks/>
          </p:cNvCxnSpPr>
          <p:nvPr/>
        </p:nvCxnSpPr>
        <p:spPr>
          <a:xfrm flipV="1">
            <a:off x="5036186" y="3748987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6DA8C96-9BE6-F99C-C9E4-52D9D3D248C2}"/>
              </a:ext>
            </a:extLst>
          </p:cNvPr>
          <p:cNvCxnSpPr>
            <a:cxnSpLocks/>
          </p:cNvCxnSpPr>
          <p:nvPr/>
        </p:nvCxnSpPr>
        <p:spPr>
          <a:xfrm flipV="1">
            <a:off x="5045711" y="4383126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E6368F0-CB83-7CAE-7A0D-FD17D7E63CFC}"/>
              </a:ext>
            </a:extLst>
          </p:cNvPr>
          <p:cNvCxnSpPr>
            <a:cxnSpLocks/>
          </p:cNvCxnSpPr>
          <p:nvPr/>
        </p:nvCxnSpPr>
        <p:spPr>
          <a:xfrm flipV="1">
            <a:off x="5045710" y="4971848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F5B36458-7D7F-C72C-F4DE-FF104BCD9429}"/>
              </a:ext>
            </a:extLst>
          </p:cNvPr>
          <p:cNvCxnSpPr>
            <a:cxnSpLocks/>
          </p:cNvCxnSpPr>
          <p:nvPr/>
        </p:nvCxnSpPr>
        <p:spPr>
          <a:xfrm flipV="1">
            <a:off x="5045710" y="5557139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89A09AA-2BC5-4164-FF55-C91F6ADF47F2}"/>
              </a:ext>
            </a:extLst>
          </p:cNvPr>
          <p:cNvCxnSpPr>
            <a:cxnSpLocks/>
          </p:cNvCxnSpPr>
          <p:nvPr/>
        </p:nvCxnSpPr>
        <p:spPr>
          <a:xfrm flipV="1">
            <a:off x="5036185" y="6094712"/>
            <a:ext cx="34117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CF073D-683D-AB50-43E1-9B514F8829F5}"/>
              </a:ext>
            </a:extLst>
          </p:cNvPr>
          <p:cNvCxnSpPr>
            <a:cxnSpLocks/>
          </p:cNvCxnSpPr>
          <p:nvPr/>
        </p:nvCxnSpPr>
        <p:spPr>
          <a:xfrm>
            <a:off x="6109225" y="1457601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D87EEAC-2EBE-19FD-30A0-D8570F8C4182}"/>
              </a:ext>
            </a:extLst>
          </p:cNvPr>
          <p:cNvCxnSpPr>
            <a:cxnSpLocks/>
          </p:cNvCxnSpPr>
          <p:nvPr/>
        </p:nvCxnSpPr>
        <p:spPr>
          <a:xfrm>
            <a:off x="6109225" y="206524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D2B2FCA9-559B-ABBD-26E1-7AE7D10F8E90}"/>
              </a:ext>
            </a:extLst>
          </p:cNvPr>
          <p:cNvCxnSpPr>
            <a:cxnSpLocks/>
          </p:cNvCxnSpPr>
          <p:nvPr/>
        </p:nvCxnSpPr>
        <p:spPr>
          <a:xfrm>
            <a:off x="6081562" y="266386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DBE9CB8-4072-4AE6-64EC-B99FF288A87D}"/>
              </a:ext>
            </a:extLst>
          </p:cNvPr>
          <p:cNvCxnSpPr>
            <a:cxnSpLocks/>
          </p:cNvCxnSpPr>
          <p:nvPr/>
        </p:nvCxnSpPr>
        <p:spPr>
          <a:xfrm>
            <a:off x="6109225" y="3328185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A82AF55-83BD-DE17-2464-DF96CC1E2801}"/>
              </a:ext>
            </a:extLst>
          </p:cNvPr>
          <p:cNvCxnSpPr>
            <a:cxnSpLocks/>
          </p:cNvCxnSpPr>
          <p:nvPr/>
        </p:nvCxnSpPr>
        <p:spPr>
          <a:xfrm>
            <a:off x="6109225" y="3926797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A31A041E-B07B-47DE-26E3-ABE19094D3FF}"/>
              </a:ext>
            </a:extLst>
          </p:cNvPr>
          <p:cNvCxnSpPr>
            <a:cxnSpLocks/>
          </p:cNvCxnSpPr>
          <p:nvPr/>
        </p:nvCxnSpPr>
        <p:spPr>
          <a:xfrm>
            <a:off x="6109225" y="4548442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7F91348-D0DC-01CC-1107-0D722AC60AD1}"/>
              </a:ext>
            </a:extLst>
          </p:cNvPr>
          <p:cNvCxnSpPr>
            <a:cxnSpLocks/>
          </p:cNvCxnSpPr>
          <p:nvPr/>
        </p:nvCxnSpPr>
        <p:spPr>
          <a:xfrm>
            <a:off x="6109225" y="516154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E1D8CA47-5F71-9A90-9182-E35C17F50087}"/>
              </a:ext>
            </a:extLst>
          </p:cNvPr>
          <p:cNvCxnSpPr>
            <a:cxnSpLocks/>
          </p:cNvCxnSpPr>
          <p:nvPr/>
        </p:nvCxnSpPr>
        <p:spPr>
          <a:xfrm>
            <a:off x="6109225" y="5717048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C61A7330-D378-5C24-BF4B-27247C513B1E}"/>
              </a:ext>
            </a:extLst>
          </p:cNvPr>
          <p:cNvCxnSpPr>
            <a:cxnSpLocks/>
          </p:cNvCxnSpPr>
          <p:nvPr/>
        </p:nvCxnSpPr>
        <p:spPr>
          <a:xfrm>
            <a:off x="6109225" y="6285663"/>
            <a:ext cx="148265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15D58991-EB51-6B3E-293C-F7F8975CB2F3}"/>
              </a:ext>
            </a:extLst>
          </p:cNvPr>
          <p:cNvCxnSpPr>
            <a:cxnSpLocks/>
          </p:cNvCxnSpPr>
          <p:nvPr/>
        </p:nvCxnSpPr>
        <p:spPr>
          <a:xfrm>
            <a:off x="1158072" y="6464206"/>
            <a:ext cx="642519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3F722FCB-27FF-7274-2F51-6B63DC67A059}"/>
              </a:ext>
            </a:extLst>
          </p:cNvPr>
          <p:cNvCxnSpPr>
            <a:cxnSpLocks/>
          </p:cNvCxnSpPr>
          <p:nvPr/>
        </p:nvCxnSpPr>
        <p:spPr>
          <a:xfrm flipV="1">
            <a:off x="1180662" y="6168121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EF8564FE-762B-3C2C-BB7D-7ED8FAEC4684}"/>
              </a:ext>
            </a:extLst>
          </p:cNvPr>
          <p:cNvCxnSpPr>
            <a:cxnSpLocks/>
          </p:cNvCxnSpPr>
          <p:nvPr/>
        </p:nvCxnSpPr>
        <p:spPr>
          <a:xfrm flipV="1">
            <a:off x="3169291" y="6154035"/>
            <a:ext cx="0" cy="29608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770D4DA-C238-C926-2D0D-813F0A718427}"/>
              </a:ext>
            </a:extLst>
          </p:cNvPr>
          <p:cNvCxnSpPr>
            <a:cxnSpLocks/>
          </p:cNvCxnSpPr>
          <p:nvPr/>
        </p:nvCxnSpPr>
        <p:spPr>
          <a:xfrm>
            <a:off x="7591878" y="1438696"/>
            <a:ext cx="0" cy="503047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BC0405F-6649-84D2-544A-9757705A0E71}"/>
              </a:ext>
            </a:extLst>
          </p:cNvPr>
          <p:cNvSpPr/>
          <p:nvPr/>
        </p:nvSpPr>
        <p:spPr>
          <a:xfrm>
            <a:off x="7785740" y="503624"/>
            <a:ext cx="3863336" cy="42467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99DA77F8-A32E-5BBA-7A8E-AE17239F0B10}"/>
              </a:ext>
            </a:extLst>
          </p:cNvPr>
          <p:cNvSpPr txBox="1"/>
          <p:nvPr/>
        </p:nvSpPr>
        <p:spPr>
          <a:xfrm>
            <a:off x="7807290" y="534719"/>
            <a:ext cx="39163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Level2 OT  </a:t>
            </a:r>
            <a:r>
              <a:rPr lang="en-SG" sz="1400" b="1" dirty="0"/>
              <a:t>Operation Room SCADA Network</a:t>
            </a:r>
          </a:p>
        </p:txBody>
      </p:sp>
      <p:pic>
        <p:nvPicPr>
          <p:cNvPr id="111" name="Picture 110" descr="A screenshot of a computer&#10;&#10;Description automatically generated">
            <a:extLst>
              <a:ext uri="{FF2B5EF4-FFF2-40B4-BE49-F238E27FC236}">
                <a16:creationId xmlns:a16="http://schemas.microsoft.com/office/drawing/2014/main" id="{B4FB31F9-D092-D72A-597E-B5B8B2527B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311" y="2187835"/>
            <a:ext cx="2014631" cy="1140350"/>
          </a:xfrm>
          <a:prstGeom prst="rect">
            <a:avLst/>
          </a:prstGeom>
          <a:ln w="9525">
            <a:solidFill>
              <a:srgbClr val="D67A3B"/>
            </a:solidFill>
          </a:ln>
        </p:spPr>
      </p:pic>
      <p:pic>
        <p:nvPicPr>
          <p:cNvPr id="112" name="Picture 111" descr="A screenshot of a computer&#10;&#10;Description automatically generated">
            <a:extLst>
              <a:ext uri="{FF2B5EF4-FFF2-40B4-BE49-F238E27FC236}">
                <a16:creationId xmlns:a16="http://schemas.microsoft.com/office/drawing/2014/main" id="{E7E179D1-A253-690B-BCFC-CE4E85D86AE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3924" y="3441688"/>
            <a:ext cx="2027496" cy="1162932"/>
          </a:xfrm>
          <a:prstGeom prst="rect">
            <a:avLst/>
          </a:prstGeom>
          <a:ln>
            <a:solidFill>
              <a:srgbClr val="D67A3B"/>
            </a:solidFill>
          </a:ln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1919FF97-0E77-DFAC-916A-32B6F555086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41573" y="902313"/>
            <a:ext cx="2028369" cy="1162932"/>
          </a:xfrm>
          <a:prstGeom prst="rect">
            <a:avLst/>
          </a:prstGeom>
          <a:ln w="12700">
            <a:solidFill>
              <a:srgbClr val="D67A3B"/>
            </a:solidFill>
          </a:ln>
        </p:spPr>
      </p:pic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08F94BF5-8A40-44DB-DDF5-C033E7423F85}"/>
              </a:ext>
            </a:extLst>
          </p:cNvPr>
          <p:cNvCxnSpPr>
            <a:cxnSpLocks/>
          </p:cNvCxnSpPr>
          <p:nvPr/>
        </p:nvCxnSpPr>
        <p:spPr>
          <a:xfrm>
            <a:off x="8096703" y="1476651"/>
            <a:ext cx="0" cy="295322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2CBB5AE9-05CF-1CA3-8710-36CF67D8AFD5}"/>
              </a:ext>
            </a:extLst>
          </p:cNvPr>
          <p:cNvCxnSpPr>
            <a:cxnSpLocks/>
            <a:endCxn id="113" idx="1"/>
          </p:cNvCxnSpPr>
          <p:nvPr/>
        </p:nvCxnSpPr>
        <p:spPr>
          <a:xfrm>
            <a:off x="8096250" y="1483779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66A34BD-848B-5E5F-82EF-845DC53CD883}"/>
              </a:ext>
            </a:extLst>
          </p:cNvPr>
          <p:cNvCxnSpPr>
            <a:cxnSpLocks/>
          </p:cNvCxnSpPr>
          <p:nvPr/>
        </p:nvCxnSpPr>
        <p:spPr>
          <a:xfrm>
            <a:off x="8086725" y="2805723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C8F00C04-D845-B4A6-32CA-C15E925D918E}"/>
              </a:ext>
            </a:extLst>
          </p:cNvPr>
          <p:cNvCxnSpPr>
            <a:cxnSpLocks/>
          </p:cNvCxnSpPr>
          <p:nvPr/>
        </p:nvCxnSpPr>
        <p:spPr>
          <a:xfrm>
            <a:off x="8105775" y="441082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9C8988F-6AA1-BD97-4391-42B941A5EA64}"/>
              </a:ext>
            </a:extLst>
          </p:cNvPr>
          <p:cNvSpPr txBox="1"/>
          <p:nvPr/>
        </p:nvSpPr>
        <p:spPr>
          <a:xfrm>
            <a:off x="10469943" y="923904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HMI-Block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10.10.30.11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5FFD253-D8B5-A175-E54C-5F0083D10111}"/>
              </a:ext>
            </a:extLst>
          </p:cNvPr>
          <p:cNvSpPr txBox="1"/>
          <p:nvPr/>
        </p:nvSpPr>
        <p:spPr>
          <a:xfrm>
            <a:off x="10455505" y="2199988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HMI-Signal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10.10.30.12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A476E52-ACFB-6E32-C173-3A7CAEC6F1C0}"/>
              </a:ext>
            </a:extLst>
          </p:cNvPr>
          <p:cNvSpPr txBox="1"/>
          <p:nvPr/>
        </p:nvSpPr>
        <p:spPr>
          <a:xfrm>
            <a:off x="10524284" y="3535267"/>
            <a:ext cx="116205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HMI-Train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10.10.30.13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34C5CB0-1DA0-A5C5-7BB8-CF155B4B58DF}"/>
              </a:ext>
            </a:extLst>
          </p:cNvPr>
          <p:cNvSpPr/>
          <p:nvPr/>
        </p:nvSpPr>
        <p:spPr>
          <a:xfrm>
            <a:off x="7755081" y="4988801"/>
            <a:ext cx="3885381" cy="16120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solidFill>
              <a:schemeClr val="dk1"/>
            </a:solidFill>
            <a:prstDash val="sys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5106C00-6233-25D2-23A6-C771E5381D6D}"/>
              </a:ext>
            </a:extLst>
          </p:cNvPr>
          <p:cNvCxnSpPr>
            <a:cxnSpLocks/>
          </p:cNvCxnSpPr>
          <p:nvPr/>
        </p:nvCxnSpPr>
        <p:spPr>
          <a:xfrm>
            <a:off x="7991928" y="4146783"/>
            <a:ext cx="0" cy="177328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1EE35FA5-46DF-4F68-D5FA-8E24BA9D44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3100" y="5921746"/>
            <a:ext cx="555514" cy="40552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D4063439-D15C-305F-2154-D8168F08EC6C}"/>
              </a:ext>
            </a:extLst>
          </p:cNvPr>
          <p:cNvSpPr txBox="1"/>
          <p:nvPr/>
        </p:nvSpPr>
        <p:spPr>
          <a:xfrm>
            <a:off x="8087029" y="5007654"/>
            <a:ext cx="32607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b="1" i="0" dirty="0">
                <a:solidFill>
                  <a:srgbClr val="4B5563"/>
                </a:solidFill>
                <a:effectLst/>
              </a:rPr>
              <a:t> </a:t>
            </a:r>
            <a:r>
              <a:rPr lang="en-SG" sz="1400" b="1" i="0" dirty="0">
                <a:effectLst/>
              </a:rPr>
              <a:t>Level</a:t>
            </a:r>
            <a:r>
              <a:rPr lang="en-SG" sz="1400" b="1" dirty="0"/>
              <a:t>3</a:t>
            </a:r>
            <a:r>
              <a:rPr lang="en-SG" sz="1400" b="1" i="0" dirty="0">
                <a:effectLst/>
              </a:rPr>
              <a:t> OT  </a:t>
            </a:r>
            <a:r>
              <a:rPr lang="en-SG" sz="1400" b="1" dirty="0"/>
              <a:t>Management Network</a:t>
            </a:r>
          </a:p>
        </p:txBody>
      </p:sp>
      <p:pic>
        <p:nvPicPr>
          <p:cNvPr id="132" name="Picture 131">
            <a:extLst>
              <a:ext uri="{FF2B5EF4-FFF2-40B4-BE49-F238E27FC236}">
                <a16:creationId xmlns:a16="http://schemas.microsoft.com/office/drawing/2014/main" id="{6D9D2DD0-44CF-8807-61BA-7FB3D58E63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6761" y="5315552"/>
            <a:ext cx="1998394" cy="110515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133" name="TextBox 132">
            <a:extLst>
              <a:ext uri="{FF2B5EF4-FFF2-40B4-BE49-F238E27FC236}">
                <a16:creationId xmlns:a16="http://schemas.microsoft.com/office/drawing/2014/main" id="{1BC279E3-EDAF-2327-581E-71F031EE155D}"/>
              </a:ext>
            </a:extLst>
          </p:cNvPr>
          <p:cNvSpPr txBox="1"/>
          <p:nvPr/>
        </p:nvSpPr>
        <p:spPr>
          <a:xfrm>
            <a:off x="10561542" y="5273734"/>
            <a:ext cx="11620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VM_ID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 HMI-Management  </a:t>
            </a:r>
          </a:p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Dashboard </a:t>
            </a:r>
          </a:p>
          <a:p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BT_IP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 10.10.40.11</a:t>
            </a: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70844877-1D4B-1D33-258E-7743EA5C8013}"/>
              </a:ext>
            </a:extLst>
          </p:cNvPr>
          <p:cNvCxnSpPr>
            <a:cxnSpLocks/>
          </p:cNvCxnSpPr>
          <p:nvPr/>
        </p:nvCxnSpPr>
        <p:spPr>
          <a:xfrm>
            <a:off x="8401050" y="6120218"/>
            <a:ext cx="133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9" name="Picture 108">
            <a:extLst>
              <a:ext uri="{FF2B5EF4-FFF2-40B4-BE49-F238E27FC236}">
                <a16:creationId xmlns:a16="http://schemas.microsoft.com/office/drawing/2014/main" id="{B698C719-3A8E-7C00-618D-78BA8D4C42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045" y="3672018"/>
            <a:ext cx="698025" cy="509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38" name="TextBox 137">
            <a:extLst>
              <a:ext uri="{FF2B5EF4-FFF2-40B4-BE49-F238E27FC236}">
                <a16:creationId xmlns:a16="http://schemas.microsoft.com/office/drawing/2014/main" id="{9647B9A1-BEBC-EF58-3EAD-38D21A2E3831}"/>
              </a:ext>
            </a:extLst>
          </p:cNvPr>
          <p:cNvSpPr txBox="1"/>
          <p:nvPr/>
        </p:nvSpPr>
        <p:spPr>
          <a:xfrm>
            <a:off x="5153452" y="261543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Subnet01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F6799B9-F685-09D8-1C42-EEFA1C6C3367}"/>
              </a:ext>
            </a:extLst>
          </p:cNvPr>
          <p:cNvSpPr txBox="1"/>
          <p:nvPr/>
        </p:nvSpPr>
        <p:spPr>
          <a:xfrm>
            <a:off x="7711224" y="234551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Subnet02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BED79D8B-A345-339B-2FC7-382750AB9CD6}"/>
              </a:ext>
            </a:extLst>
          </p:cNvPr>
          <p:cNvSpPr txBox="1"/>
          <p:nvPr/>
        </p:nvSpPr>
        <p:spPr>
          <a:xfrm>
            <a:off x="8191180" y="4736735"/>
            <a:ext cx="18850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Build Team Subnet03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Cylinder 140">
            <a:extLst>
              <a:ext uri="{FF2B5EF4-FFF2-40B4-BE49-F238E27FC236}">
                <a16:creationId xmlns:a16="http://schemas.microsoft.com/office/drawing/2014/main" id="{0163C2A4-B3C6-35A9-4504-6CF93380C18C}"/>
              </a:ext>
            </a:extLst>
          </p:cNvPr>
          <p:cNvSpPr/>
          <p:nvPr/>
        </p:nvSpPr>
        <p:spPr>
          <a:xfrm>
            <a:off x="10814797" y="157808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DB01</a:t>
            </a:r>
            <a:endParaRPr lang="en-SG" sz="1200" b="1" dirty="0"/>
          </a:p>
        </p:txBody>
      </p:sp>
      <p:sp>
        <p:nvSpPr>
          <p:cNvPr id="143" name="Cylinder 142">
            <a:extLst>
              <a:ext uri="{FF2B5EF4-FFF2-40B4-BE49-F238E27FC236}">
                <a16:creationId xmlns:a16="http://schemas.microsoft.com/office/drawing/2014/main" id="{34E5B3E1-0F9A-94E5-0AB6-7566027E3A57}"/>
              </a:ext>
            </a:extLst>
          </p:cNvPr>
          <p:cNvSpPr/>
          <p:nvPr/>
        </p:nvSpPr>
        <p:spPr>
          <a:xfrm>
            <a:off x="10814797" y="2880697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DB02</a:t>
            </a:r>
            <a:endParaRPr lang="en-SG" sz="1200" b="1" dirty="0"/>
          </a:p>
        </p:txBody>
      </p:sp>
      <p:sp>
        <p:nvSpPr>
          <p:cNvPr id="144" name="Cylinder 143">
            <a:extLst>
              <a:ext uri="{FF2B5EF4-FFF2-40B4-BE49-F238E27FC236}">
                <a16:creationId xmlns:a16="http://schemas.microsoft.com/office/drawing/2014/main" id="{2F02B2D4-70B7-54DD-33B6-AF6E0F73E306}"/>
              </a:ext>
            </a:extLst>
          </p:cNvPr>
          <p:cNvSpPr/>
          <p:nvPr/>
        </p:nvSpPr>
        <p:spPr>
          <a:xfrm>
            <a:off x="10814797" y="4138151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DB03</a:t>
            </a:r>
            <a:endParaRPr lang="en-SG" sz="1200" b="1" dirty="0"/>
          </a:p>
        </p:txBody>
      </p:sp>
      <p:sp>
        <p:nvSpPr>
          <p:cNvPr id="145" name="Cylinder 144">
            <a:extLst>
              <a:ext uri="{FF2B5EF4-FFF2-40B4-BE49-F238E27FC236}">
                <a16:creationId xmlns:a16="http://schemas.microsoft.com/office/drawing/2014/main" id="{023B551C-5A50-C68E-CFEB-CA40DE6FEFCD}"/>
              </a:ext>
            </a:extLst>
          </p:cNvPr>
          <p:cNvSpPr/>
          <p:nvPr/>
        </p:nvSpPr>
        <p:spPr>
          <a:xfrm>
            <a:off x="10864962" y="6032366"/>
            <a:ext cx="581025" cy="467942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DB04</a:t>
            </a:r>
            <a:endParaRPr lang="en-SG" sz="1200" b="1" dirty="0"/>
          </a:p>
        </p:txBody>
      </p: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EA1D7022-CD43-3CD7-8AEB-099C7F5C4630}"/>
              </a:ext>
            </a:extLst>
          </p:cNvPr>
          <p:cNvCxnSpPr>
            <a:cxnSpLocks/>
          </p:cNvCxnSpPr>
          <p:nvPr/>
        </p:nvCxnSpPr>
        <p:spPr>
          <a:xfrm>
            <a:off x="10487025" y="1840821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CBDAEAFF-BE46-B392-0211-BE5578A3F420}"/>
              </a:ext>
            </a:extLst>
          </p:cNvPr>
          <p:cNvCxnSpPr>
            <a:cxnSpLocks/>
          </p:cNvCxnSpPr>
          <p:nvPr/>
        </p:nvCxnSpPr>
        <p:spPr>
          <a:xfrm>
            <a:off x="10467975" y="3083972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049FBA6A-95B6-075D-9BBF-E135140E837A}"/>
              </a:ext>
            </a:extLst>
          </p:cNvPr>
          <p:cNvCxnSpPr>
            <a:cxnSpLocks/>
          </p:cNvCxnSpPr>
          <p:nvPr/>
        </p:nvCxnSpPr>
        <p:spPr>
          <a:xfrm>
            <a:off x="10496550" y="4361955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0F56CBB-7C5F-3E69-AF69-7F98634B0763}"/>
              </a:ext>
            </a:extLst>
          </p:cNvPr>
          <p:cNvCxnSpPr>
            <a:cxnSpLocks/>
          </p:cNvCxnSpPr>
          <p:nvPr/>
        </p:nvCxnSpPr>
        <p:spPr>
          <a:xfrm>
            <a:off x="10515600" y="6247367"/>
            <a:ext cx="3453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804C0D4B-A2FC-C9FF-7D84-22C5019CCBF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64126" y="4850485"/>
            <a:ext cx="469168" cy="52016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07FD078-4C69-07A5-8EE3-D3318E0AB29D}"/>
              </a:ext>
            </a:extLst>
          </p:cNvPr>
          <p:cNvCxnSpPr>
            <a:cxnSpLocks/>
          </p:cNvCxnSpPr>
          <p:nvPr/>
        </p:nvCxnSpPr>
        <p:spPr>
          <a:xfrm>
            <a:off x="1510388" y="4584873"/>
            <a:ext cx="1336155" cy="4508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F3F07C-52FD-EE97-1DAC-38B4C53DF8D2}"/>
              </a:ext>
            </a:extLst>
          </p:cNvPr>
          <p:cNvCxnSpPr>
            <a:cxnSpLocks/>
          </p:cNvCxnSpPr>
          <p:nvPr/>
        </p:nvCxnSpPr>
        <p:spPr>
          <a:xfrm>
            <a:off x="3252136" y="4777212"/>
            <a:ext cx="405560" cy="310325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DFD7FDB1-8437-F2C8-8753-7CF7944F5E68}"/>
              </a:ext>
            </a:extLst>
          </p:cNvPr>
          <p:cNvSpPr/>
          <p:nvPr/>
        </p:nvSpPr>
        <p:spPr>
          <a:xfrm>
            <a:off x="2143952" y="4485582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6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1AC20947-4187-FF6F-C7B1-EFBFEE367D3B}"/>
              </a:ext>
            </a:extLst>
          </p:cNvPr>
          <p:cNvSpPr/>
          <p:nvPr/>
        </p:nvSpPr>
        <p:spPr>
          <a:xfrm>
            <a:off x="3620461" y="517197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2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B8C7E63-5BFA-7189-B6C0-C85DC57D1F60}"/>
              </a:ext>
            </a:extLst>
          </p:cNvPr>
          <p:cNvCxnSpPr>
            <a:cxnSpLocks/>
          </p:cNvCxnSpPr>
          <p:nvPr/>
        </p:nvCxnSpPr>
        <p:spPr>
          <a:xfrm flipH="1" flipV="1">
            <a:off x="3804424" y="4587705"/>
            <a:ext cx="281905" cy="20190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1CF9B5B1-82E2-524B-385F-74B0E963247D}"/>
              </a:ext>
            </a:extLst>
          </p:cNvPr>
          <p:cNvSpPr/>
          <p:nvPr/>
        </p:nvSpPr>
        <p:spPr>
          <a:xfrm>
            <a:off x="4009423" y="4542094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3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EE15819-0A14-E63F-D9F0-7BA894EA07F2}"/>
              </a:ext>
            </a:extLst>
          </p:cNvPr>
          <p:cNvCxnSpPr>
            <a:cxnSpLocks/>
          </p:cNvCxnSpPr>
          <p:nvPr/>
        </p:nvCxnSpPr>
        <p:spPr>
          <a:xfrm flipV="1">
            <a:off x="3827369" y="4286766"/>
            <a:ext cx="1115194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1F5E0DB6-7457-3BF5-CE24-78B86621D48B}"/>
              </a:ext>
            </a:extLst>
          </p:cNvPr>
          <p:cNvSpPr/>
          <p:nvPr/>
        </p:nvSpPr>
        <p:spPr>
          <a:xfrm>
            <a:off x="4395980" y="4008893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4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97772F9-377A-0E21-DA34-C290DE990D16}"/>
              </a:ext>
            </a:extLst>
          </p:cNvPr>
          <p:cNvCxnSpPr>
            <a:cxnSpLocks/>
          </p:cNvCxnSpPr>
          <p:nvPr/>
        </p:nvCxnSpPr>
        <p:spPr>
          <a:xfrm flipH="1">
            <a:off x="4962645" y="4268112"/>
            <a:ext cx="0" cy="1688637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3E5F979E-14AD-D7AE-1DFE-F4703B4833FD}"/>
              </a:ext>
            </a:extLst>
          </p:cNvPr>
          <p:cNvCxnSpPr>
            <a:cxnSpLocks/>
          </p:cNvCxnSpPr>
          <p:nvPr/>
        </p:nvCxnSpPr>
        <p:spPr>
          <a:xfrm>
            <a:off x="4933950" y="6026048"/>
            <a:ext cx="443414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93AC7B48-E11E-D38D-5C92-FF566266BE2E}"/>
              </a:ext>
            </a:extLst>
          </p:cNvPr>
          <p:cNvCxnSpPr>
            <a:cxnSpLocks/>
          </p:cNvCxnSpPr>
          <p:nvPr/>
        </p:nvCxnSpPr>
        <p:spPr>
          <a:xfrm>
            <a:off x="6181725" y="6356154"/>
            <a:ext cx="1533525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B5FF90B5-097E-F71A-4A80-4910F02017AF}"/>
              </a:ext>
            </a:extLst>
          </p:cNvPr>
          <p:cNvCxnSpPr>
            <a:cxnSpLocks/>
          </p:cNvCxnSpPr>
          <p:nvPr/>
        </p:nvCxnSpPr>
        <p:spPr>
          <a:xfrm flipH="1" flipV="1">
            <a:off x="7703414" y="4209468"/>
            <a:ext cx="0" cy="209275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>
            <a:extLst>
              <a:ext uri="{FF2B5EF4-FFF2-40B4-BE49-F238E27FC236}">
                <a16:creationId xmlns:a16="http://schemas.microsoft.com/office/drawing/2014/main" id="{DD1075A5-E8D9-1CAA-25D8-C7AB7AD31D25}"/>
              </a:ext>
            </a:extLst>
          </p:cNvPr>
          <p:cNvSpPr/>
          <p:nvPr/>
        </p:nvSpPr>
        <p:spPr>
          <a:xfrm>
            <a:off x="7607911" y="4877278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5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A6DDD8BA-194B-A941-1DBF-31931E3BDF2D}"/>
              </a:ext>
            </a:extLst>
          </p:cNvPr>
          <p:cNvCxnSpPr>
            <a:cxnSpLocks/>
          </p:cNvCxnSpPr>
          <p:nvPr/>
        </p:nvCxnSpPr>
        <p:spPr>
          <a:xfrm>
            <a:off x="7807290" y="4296881"/>
            <a:ext cx="643981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Oval 134">
            <a:extLst>
              <a:ext uri="{FF2B5EF4-FFF2-40B4-BE49-F238E27FC236}">
                <a16:creationId xmlns:a16="http://schemas.microsoft.com/office/drawing/2014/main" id="{501BEED4-141E-3C84-00D9-FF455B6FA8C2}"/>
              </a:ext>
            </a:extLst>
          </p:cNvPr>
          <p:cNvSpPr/>
          <p:nvPr/>
        </p:nvSpPr>
        <p:spPr>
          <a:xfrm>
            <a:off x="8344767" y="3586385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6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947676D4-1EAE-568E-4C01-E29269C421D2}"/>
              </a:ext>
            </a:extLst>
          </p:cNvPr>
          <p:cNvCxnSpPr>
            <a:cxnSpLocks/>
          </p:cNvCxnSpPr>
          <p:nvPr/>
        </p:nvCxnSpPr>
        <p:spPr>
          <a:xfrm flipH="1" flipV="1">
            <a:off x="6109225" y="3522842"/>
            <a:ext cx="2176983" cy="18956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50">
            <a:extLst>
              <a:ext uri="{FF2B5EF4-FFF2-40B4-BE49-F238E27FC236}">
                <a16:creationId xmlns:a16="http://schemas.microsoft.com/office/drawing/2014/main" id="{EA4FC888-6893-F324-466B-081C470AB981}"/>
              </a:ext>
            </a:extLst>
          </p:cNvPr>
          <p:cNvSpPr/>
          <p:nvPr/>
        </p:nvSpPr>
        <p:spPr>
          <a:xfrm>
            <a:off x="7141550" y="3406120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7</a:t>
            </a:r>
            <a:endParaRPr lang="en-SG" sz="1600" b="1" dirty="0">
              <a:solidFill>
                <a:srgbClr val="C00000"/>
              </a:solidFill>
            </a:endParaRPr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6093B2F8-5FCB-98A8-71F9-7FFC4317A1DC}"/>
              </a:ext>
            </a:extLst>
          </p:cNvPr>
          <p:cNvCxnSpPr>
            <a:cxnSpLocks/>
          </p:cNvCxnSpPr>
          <p:nvPr/>
        </p:nvCxnSpPr>
        <p:spPr>
          <a:xfrm flipH="1">
            <a:off x="2868149" y="3915230"/>
            <a:ext cx="2620898" cy="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3C4B7AC6-6CB5-A9C9-A404-34307A5D2AB9}"/>
              </a:ext>
            </a:extLst>
          </p:cNvPr>
          <p:cNvCxnSpPr>
            <a:cxnSpLocks/>
          </p:cNvCxnSpPr>
          <p:nvPr/>
        </p:nvCxnSpPr>
        <p:spPr>
          <a:xfrm flipV="1">
            <a:off x="2824761" y="3560782"/>
            <a:ext cx="0" cy="393151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Oval 160">
            <a:extLst>
              <a:ext uri="{FF2B5EF4-FFF2-40B4-BE49-F238E27FC236}">
                <a16:creationId xmlns:a16="http://schemas.microsoft.com/office/drawing/2014/main" id="{9593EC5B-A1CF-FFC0-B270-AA7258B0C506}"/>
              </a:ext>
            </a:extLst>
          </p:cNvPr>
          <p:cNvSpPr/>
          <p:nvPr/>
        </p:nvSpPr>
        <p:spPr>
          <a:xfrm>
            <a:off x="2702757" y="3357449"/>
            <a:ext cx="198642" cy="214127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C00000"/>
                </a:solidFill>
              </a:rPr>
              <a:t>8</a:t>
            </a:r>
            <a:endParaRPr lang="en-SG" sz="1600" b="1" dirty="0">
              <a:solidFill>
                <a:srgbClr val="C00000"/>
              </a:solidFill>
            </a:endParaRPr>
          </a:p>
        </p:txBody>
      </p:sp>
      <p:sp>
        <p:nvSpPr>
          <p:cNvPr id="162" name="Multiplication Sign 161">
            <a:extLst>
              <a:ext uri="{FF2B5EF4-FFF2-40B4-BE49-F238E27FC236}">
                <a16:creationId xmlns:a16="http://schemas.microsoft.com/office/drawing/2014/main" id="{6E8EE448-DD70-D971-A991-DA07BD0E842A}"/>
              </a:ext>
            </a:extLst>
          </p:cNvPr>
          <p:cNvSpPr/>
          <p:nvPr/>
        </p:nvSpPr>
        <p:spPr>
          <a:xfrm>
            <a:off x="2107651" y="2595851"/>
            <a:ext cx="349955" cy="407579"/>
          </a:xfrm>
          <a:prstGeom prst="mathMultiply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67297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7E0A2AF-7041-0710-588D-3C5D769FC5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623454"/>
            <a:ext cx="10287000" cy="56110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EF063F0-E652-6C4C-3173-77738CF219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2112" y="2804239"/>
            <a:ext cx="1932087" cy="178896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365F86-4DF8-7F26-B87F-28D9D6D6F4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63310" y="3698723"/>
            <a:ext cx="2676190" cy="96190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46819A2-4C5B-1B14-0C15-683A0656755C}"/>
              </a:ext>
            </a:extLst>
          </p:cNvPr>
          <p:cNvCxnSpPr/>
          <p:nvPr/>
        </p:nvCxnSpPr>
        <p:spPr>
          <a:xfrm>
            <a:off x="10428514" y="3211286"/>
            <a:ext cx="0" cy="4874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B526E41-8A0D-EA5D-C039-E4294BDDDF05}"/>
              </a:ext>
            </a:extLst>
          </p:cNvPr>
          <p:cNvCxnSpPr>
            <a:cxnSpLocks/>
            <a:endCxn id="7" idx="3"/>
          </p:cNvCxnSpPr>
          <p:nvPr/>
        </p:nvCxnSpPr>
        <p:spPr>
          <a:xfrm rot="10800000" flipV="1">
            <a:off x="3124200" y="2569028"/>
            <a:ext cx="1284515" cy="1129695"/>
          </a:xfrm>
          <a:prstGeom prst="bentConnector3">
            <a:avLst>
              <a:gd name="adj1" fmla="val 3644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9B9B1F-7D59-2ADD-1983-818585419A1F}"/>
              </a:ext>
            </a:extLst>
          </p:cNvPr>
          <p:cNvCxnSpPr>
            <a:cxnSpLocks/>
          </p:cNvCxnSpPr>
          <p:nvPr/>
        </p:nvCxnSpPr>
        <p:spPr>
          <a:xfrm flipH="1">
            <a:off x="4680857" y="5704115"/>
            <a:ext cx="19703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2E56B6B3-BEEA-E7EE-A685-BF6D96D1DB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28319" y="4936225"/>
            <a:ext cx="2452538" cy="94328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764271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5F39C37C-8128-B440-F2D2-86C1AB612244}"/>
              </a:ext>
            </a:extLst>
          </p:cNvPr>
          <p:cNvSpPr/>
          <p:nvPr/>
        </p:nvSpPr>
        <p:spPr>
          <a:xfrm>
            <a:off x="304800" y="212436"/>
            <a:ext cx="11453638" cy="649316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C78270-AAC0-453A-4D4D-3FA4FD8D3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349" y="2653498"/>
            <a:ext cx="6908051" cy="39287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C74CAF2-6FA1-ADCA-7D1D-D41F46BFC9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506" y="4760361"/>
            <a:ext cx="3999893" cy="17142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566E7F-06CF-B12D-C108-D81274FDA3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62" y="1216005"/>
            <a:ext cx="5754802" cy="3272900"/>
          </a:xfrm>
          <a:prstGeom prst="rect">
            <a:avLst/>
          </a:prstGeom>
        </p:spPr>
      </p:pic>
      <p:sp>
        <p:nvSpPr>
          <p:cNvPr id="12" name="Arrow: Bent 11">
            <a:extLst>
              <a:ext uri="{FF2B5EF4-FFF2-40B4-BE49-F238E27FC236}">
                <a16:creationId xmlns:a16="http://schemas.microsoft.com/office/drawing/2014/main" id="{3BED3515-D945-F12E-44A2-4E2C3CC4B1A7}"/>
              </a:ext>
            </a:extLst>
          </p:cNvPr>
          <p:cNvSpPr/>
          <p:nvPr/>
        </p:nvSpPr>
        <p:spPr>
          <a:xfrm flipH="1">
            <a:off x="5985163" y="2653498"/>
            <a:ext cx="687779" cy="662737"/>
          </a:xfrm>
          <a:prstGeom prst="ben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D559793-7084-6BF3-0A62-DA4673ED51A9}"/>
              </a:ext>
            </a:extLst>
          </p:cNvPr>
          <p:cNvSpPr/>
          <p:nvPr/>
        </p:nvSpPr>
        <p:spPr>
          <a:xfrm>
            <a:off x="1845134" y="4314632"/>
            <a:ext cx="269993" cy="571404"/>
          </a:xfrm>
          <a:prstGeom prst="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59A56-4CB3-5BB1-A598-271E98B09F40}"/>
              </a:ext>
            </a:extLst>
          </p:cNvPr>
          <p:cNvSpPr txBox="1"/>
          <p:nvPr/>
        </p:nvSpPr>
        <p:spPr>
          <a:xfrm>
            <a:off x="470506" y="359355"/>
            <a:ext cx="10003530" cy="707886"/>
          </a:xfrm>
          <a:prstGeom prst="rect">
            <a:avLst/>
          </a:prstGeom>
          <a:noFill/>
          <a:ln w="19050">
            <a:solidFill>
              <a:schemeClr val="tx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000" b="1" dirty="0"/>
              <a:t>High Speed Rail Spoofing Cyber Attack Case Study : Use Cyber Twin to Simulate the Cyber Incident Happened in Taiwan High Speed Rail in April 2026</a:t>
            </a:r>
            <a:endParaRPr lang="en-SG" sz="2000" b="1" dirty="0"/>
          </a:p>
        </p:txBody>
      </p:sp>
      <p:pic>
        <p:nvPicPr>
          <p:cNvPr id="15" name="Picture 14" descr="A logo of a train&#10;&#10;AI-generated content may be incorrect.">
            <a:extLst>
              <a:ext uri="{FF2B5EF4-FFF2-40B4-BE49-F238E27FC236}">
                <a16:creationId xmlns:a16="http://schemas.microsoft.com/office/drawing/2014/main" id="{B9D51C81-7D7B-D213-DA1B-D400AAF50E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9745" y="359355"/>
            <a:ext cx="868164" cy="89223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7CB73A0-0925-FCBC-4F29-6CE65A666B15}"/>
              </a:ext>
            </a:extLst>
          </p:cNvPr>
          <p:cNvSpPr/>
          <p:nvPr/>
        </p:nvSpPr>
        <p:spPr>
          <a:xfrm>
            <a:off x="6295627" y="1336861"/>
            <a:ext cx="1491503" cy="44627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Eavesdrop Railway Radio Signals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C5EE9EF-B23B-FC30-C9E1-36386554BE19}"/>
              </a:ext>
            </a:extLst>
          </p:cNvPr>
          <p:cNvSpPr/>
          <p:nvPr/>
        </p:nvSpPr>
        <p:spPr>
          <a:xfrm>
            <a:off x="8012658" y="1336861"/>
            <a:ext cx="1362251" cy="446276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Decode S7 Comm Parameters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8A599A3A-FAD8-BA93-201D-5B68BDFA71FF}"/>
              </a:ext>
            </a:extLst>
          </p:cNvPr>
          <p:cNvSpPr/>
          <p:nvPr/>
        </p:nvSpPr>
        <p:spPr>
          <a:xfrm>
            <a:off x="7820506" y="1478230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DE8F89B7-0CBC-51C6-5083-0D6BC3BECE90}"/>
              </a:ext>
            </a:extLst>
          </p:cNvPr>
          <p:cNvSpPr/>
          <p:nvPr/>
        </p:nvSpPr>
        <p:spPr>
          <a:xfrm>
            <a:off x="9450898" y="1472007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E68228A-F8EA-927A-407A-85EEEDD9A0B5}"/>
              </a:ext>
            </a:extLst>
          </p:cNvPr>
          <p:cNvSpPr/>
          <p:nvPr/>
        </p:nvSpPr>
        <p:spPr>
          <a:xfrm>
            <a:off x="9685663" y="1344590"/>
            <a:ext cx="1739719" cy="446276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/>
              <a:t>Create and Inject Spoofed Comm Signals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FE4E75E-5361-0427-3AA3-7B7C78E50E33}"/>
              </a:ext>
            </a:extLst>
          </p:cNvPr>
          <p:cNvSpPr/>
          <p:nvPr/>
        </p:nvSpPr>
        <p:spPr>
          <a:xfrm>
            <a:off x="9881870" y="2068215"/>
            <a:ext cx="1477818" cy="44627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>
                <a:solidFill>
                  <a:schemeClr val="tx1"/>
                </a:solidFill>
              </a:rPr>
              <a:t>False Data Transfer to OCC HMI</a:t>
            </a:r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BE1E86B-75A4-9946-E3FA-78AA113108C4}"/>
              </a:ext>
            </a:extLst>
          </p:cNvPr>
          <p:cNvSpPr/>
          <p:nvPr/>
        </p:nvSpPr>
        <p:spPr>
          <a:xfrm rot="5400000">
            <a:off x="10443287" y="1893606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28B365B9-F2B4-8CDB-8F26-BBC2D9F130E2}"/>
              </a:ext>
            </a:extLst>
          </p:cNvPr>
          <p:cNvSpPr/>
          <p:nvPr/>
        </p:nvSpPr>
        <p:spPr>
          <a:xfrm rot="10800000">
            <a:off x="9660353" y="2247357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791416-F8E9-5721-34E0-EE0909500C43}"/>
              </a:ext>
            </a:extLst>
          </p:cNvPr>
          <p:cNvSpPr/>
          <p:nvPr/>
        </p:nvSpPr>
        <p:spPr>
          <a:xfrm>
            <a:off x="8131856" y="2068215"/>
            <a:ext cx="1477818" cy="446276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>
                <a:solidFill>
                  <a:schemeClr val="tx1"/>
                </a:solidFill>
              </a:rPr>
              <a:t>Trigger Railway Alarm Mechanisms</a:t>
            </a:r>
          </a:p>
        </p:txBody>
      </p:sp>
      <p:sp>
        <p:nvSpPr>
          <p:cNvPr id="28" name="Multiplication Sign 27">
            <a:extLst>
              <a:ext uri="{FF2B5EF4-FFF2-40B4-BE49-F238E27FC236}">
                <a16:creationId xmlns:a16="http://schemas.microsoft.com/office/drawing/2014/main" id="{B1AB7772-0D3B-5C0B-599C-415D44856E98}"/>
              </a:ext>
            </a:extLst>
          </p:cNvPr>
          <p:cNvSpPr/>
          <p:nvPr/>
        </p:nvSpPr>
        <p:spPr>
          <a:xfrm>
            <a:off x="2033367" y="5280978"/>
            <a:ext cx="349955" cy="407579"/>
          </a:xfrm>
          <a:prstGeom prst="mathMultiply">
            <a:avLst/>
          </a:prstGeom>
          <a:solidFill>
            <a:srgbClr val="C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rgbClr val="C00000"/>
              </a:solidFill>
            </a:endParaRP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4BC75574-A25F-D1B6-1C16-25E16300A392}"/>
              </a:ext>
            </a:extLst>
          </p:cNvPr>
          <p:cNvSpPr/>
          <p:nvPr/>
        </p:nvSpPr>
        <p:spPr>
          <a:xfrm rot="10800000">
            <a:off x="7910339" y="2255862"/>
            <a:ext cx="158776" cy="87992"/>
          </a:xfrm>
          <a:prstGeom prst="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96C389F-B471-4A71-52C2-6950E6E62705}"/>
              </a:ext>
            </a:extLst>
          </p:cNvPr>
          <p:cNvSpPr/>
          <p:nvPr/>
        </p:nvSpPr>
        <p:spPr>
          <a:xfrm>
            <a:off x="6278197" y="2068214"/>
            <a:ext cx="1581463" cy="446276"/>
          </a:xfrm>
          <a:prstGeom prst="round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>
                <a:solidFill>
                  <a:schemeClr val="bg1"/>
                </a:solidFill>
              </a:rPr>
              <a:t>Emergency Stop Protection Activation</a:t>
            </a:r>
          </a:p>
        </p:txBody>
      </p:sp>
    </p:spTree>
    <p:extLst>
      <p:ext uri="{BB962C8B-B14F-4D97-AF65-F5344CB8AC3E}">
        <p14:creationId xmlns:p14="http://schemas.microsoft.com/office/powerpoint/2010/main" val="4067454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676</TotalTime>
  <Words>745</Words>
  <Application>Microsoft Office PowerPoint</Application>
  <PresentationFormat>Widescreen</PresentationFormat>
  <Paragraphs>206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17</cp:revision>
  <dcterms:created xsi:type="dcterms:W3CDTF">2026-05-07T07:14:30Z</dcterms:created>
  <dcterms:modified xsi:type="dcterms:W3CDTF">2026-05-10T07:50:00Z</dcterms:modified>
</cp:coreProperties>
</file>